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4"/>
    </p:embeddedFont>
    <p:embeddedFont>
      <p:font typeface="Cambria Bold" charset="1" panose="02040803050406030204"/>
      <p:regular r:id="rId25"/>
    </p:embeddedFont>
    <p:embeddedFont>
      <p:font typeface="Cambria Italics" charset="1" panose="020405030504060A0204"/>
      <p:regular r:id="rId26"/>
    </p:embeddedFont>
    <p:embeddedFont>
      <p:font typeface="Calibri (MS) Italics" charset="1" panose="020F05020202040A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7.png" Type="http://schemas.openxmlformats.org/officeDocument/2006/relationships/image"/><Relationship Id="rId12" Target="../media/image9.png" Type="http://schemas.openxmlformats.org/officeDocument/2006/relationships/image"/><Relationship Id="rId13" Target="../media/image16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5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10.png" Type="http://schemas.openxmlformats.org/officeDocument/2006/relationships/image"/><Relationship Id="rId6" Target="../media/image26.png" Type="http://schemas.openxmlformats.org/officeDocument/2006/relationships/image"/><Relationship Id="rId7" Target="../media/image7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36887" y="9063037"/>
            <a:ext cx="541422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FFFFFF">
                    <a:alpha val="69804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Guide: Ms.K. Chandusha   Assistant Professor, CS &amp; IT</a:t>
            </a:r>
          </a:p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950">
                <a:solidFill>
                  <a:srgbClr val="FFFFFF">
                    <a:alpha val="69804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Course: 25CS2103E           Academic Year  2526-2027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ABSTRACT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3030200" cy="1097280"/>
            <a:chOff x="0" y="0"/>
            <a:chExt cx="173736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7373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Abstract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120" y="2811780"/>
            <a:ext cx="6446520" cy="2880360"/>
            <a:chOff x="0" y="0"/>
            <a:chExt cx="8595360" cy="3840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953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27" t="0" r="-732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8595360" cy="3954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40"/>
                </a:lnSpc>
              </a:pPr>
              <a:r>
                <a:rPr lang="en-US" sz="21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Locating relevant information from large document collections is increasingly difficult as data grows. This project designs and implements a Mini Search Engine capable of indexing, searching, and ranking documents according to user queries.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595" y="5956935"/>
            <a:ext cx="2614117" cy="649986"/>
            <a:chOff x="0" y="0"/>
            <a:chExt cx="3485490" cy="866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85515" cy="866648"/>
            </a:xfrm>
            <a:custGeom>
              <a:avLst/>
              <a:gdLst/>
              <a:ahLst/>
              <a:cxnLst/>
              <a:rect r="r" b="b" t="t" l="l"/>
              <a:pathLst>
                <a:path h="866648" w="3485515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lnTo>
                    <a:pt x="3052191" y="0"/>
                  </a:lnTo>
                  <a:cubicBezTo>
                    <a:pt x="3291459" y="0"/>
                    <a:pt x="3485515" y="194056"/>
                    <a:pt x="3485515" y="433324"/>
                  </a:cubicBezTo>
                  <a:cubicBezTo>
                    <a:pt x="3485515" y="672592"/>
                    <a:pt x="3291459" y="866648"/>
                    <a:pt x="3052191" y="866648"/>
                  </a:cubicBezTo>
                  <a:lnTo>
                    <a:pt x="433324" y="866648"/>
                  </a:ln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5966460"/>
            <a:ext cx="2595067" cy="630936"/>
            <a:chOff x="0" y="0"/>
            <a:chExt cx="3460090" cy="841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60090" cy="841248"/>
            </a:xfrm>
            <a:custGeom>
              <a:avLst/>
              <a:gdLst/>
              <a:ahLst/>
              <a:cxnLst/>
              <a:rect r="r" b="b" t="t" l="l"/>
              <a:pathLst>
                <a:path h="841248" w="3460090">
                  <a:moveTo>
                    <a:pt x="0" y="0"/>
                  </a:moveTo>
                  <a:lnTo>
                    <a:pt x="3460090" y="0"/>
                  </a:lnTo>
                  <a:lnTo>
                    <a:pt x="346009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" r="0" b="-3014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60090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112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INVERTED INDEX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65118" y="5956935"/>
            <a:ext cx="1577188" cy="649986"/>
            <a:chOff x="0" y="0"/>
            <a:chExt cx="2102917" cy="866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2866" cy="866648"/>
            </a:xfrm>
            <a:custGeom>
              <a:avLst/>
              <a:gdLst/>
              <a:ahLst/>
              <a:cxnLst/>
              <a:rect r="r" b="b" t="t" l="l"/>
              <a:pathLst>
                <a:path h="866648" w="2102866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lnTo>
                    <a:pt x="1669542" y="0"/>
                  </a:lnTo>
                  <a:cubicBezTo>
                    <a:pt x="1908810" y="0"/>
                    <a:pt x="2102866" y="194056"/>
                    <a:pt x="2102866" y="433324"/>
                  </a:cubicBezTo>
                  <a:cubicBezTo>
                    <a:pt x="2102866" y="672592"/>
                    <a:pt x="1908810" y="866648"/>
                    <a:pt x="1669542" y="866648"/>
                  </a:cubicBezTo>
                  <a:lnTo>
                    <a:pt x="433324" y="866648"/>
                  </a:ln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774643" y="5966460"/>
            <a:ext cx="1558138" cy="630936"/>
            <a:chOff x="0" y="0"/>
            <a:chExt cx="2077517" cy="8412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7516" cy="841248"/>
            </a:xfrm>
            <a:custGeom>
              <a:avLst/>
              <a:gdLst/>
              <a:ahLst/>
              <a:cxnLst/>
              <a:rect r="r" b="b" t="t" l="l"/>
              <a:pathLst>
                <a:path h="841248" w="2077516">
                  <a:moveTo>
                    <a:pt x="0" y="0"/>
                  </a:moveTo>
                  <a:lnTo>
                    <a:pt x="2077516" y="0"/>
                  </a:lnTo>
                  <a:lnTo>
                    <a:pt x="207751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53" t="0" r="-195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77517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112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HASHING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542712" y="5956935"/>
            <a:ext cx="1429055" cy="649986"/>
            <a:chOff x="0" y="0"/>
            <a:chExt cx="1905406" cy="866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5381" cy="866648"/>
            </a:xfrm>
            <a:custGeom>
              <a:avLst/>
              <a:gdLst/>
              <a:ahLst/>
              <a:cxnLst/>
              <a:rect r="r" b="b" t="t" l="l"/>
              <a:pathLst>
                <a:path h="866648" w="1905381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lnTo>
                    <a:pt x="1472057" y="0"/>
                  </a:lnTo>
                  <a:cubicBezTo>
                    <a:pt x="1711325" y="0"/>
                    <a:pt x="1905381" y="194056"/>
                    <a:pt x="1905381" y="433324"/>
                  </a:cubicBezTo>
                  <a:cubicBezTo>
                    <a:pt x="1905381" y="672592"/>
                    <a:pt x="1711325" y="866648"/>
                    <a:pt x="1472057" y="866648"/>
                  </a:cubicBezTo>
                  <a:lnTo>
                    <a:pt x="433324" y="866648"/>
                  </a:ln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552237" y="5966460"/>
            <a:ext cx="1410005" cy="630936"/>
            <a:chOff x="0" y="0"/>
            <a:chExt cx="1880006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80006" cy="841248"/>
            </a:xfrm>
            <a:custGeom>
              <a:avLst/>
              <a:gdLst/>
              <a:ahLst/>
              <a:cxnLst/>
              <a:rect r="r" b="b" t="t" l="l"/>
              <a:pathLst>
                <a:path h="841248" w="1880006">
                  <a:moveTo>
                    <a:pt x="0" y="0"/>
                  </a:moveTo>
                  <a:lnTo>
                    <a:pt x="1880006" y="0"/>
                  </a:lnTo>
                  <a:lnTo>
                    <a:pt x="188000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12" t="0" r="-741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880006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112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0595" y="7054215"/>
            <a:ext cx="6465570" cy="2145030"/>
            <a:chOff x="0" y="0"/>
            <a:chExt cx="8620760" cy="2860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620760" cy="2860040"/>
            </a:xfrm>
            <a:custGeom>
              <a:avLst/>
              <a:gdLst/>
              <a:ahLst/>
              <a:cxnLst/>
              <a:rect r="r" b="b" t="t" l="l"/>
              <a:pathLst>
                <a:path h="2860040" w="862076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8454644" y="0"/>
                  </a:lnTo>
                  <a:cubicBezTo>
                    <a:pt x="8546337" y="0"/>
                    <a:pt x="8620760" y="74295"/>
                    <a:pt x="8620760" y="166116"/>
                  </a:cubicBezTo>
                  <a:lnTo>
                    <a:pt x="8620760" y="2693924"/>
                  </a:lnTo>
                  <a:cubicBezTo>
                    <a:pt x="8620760" y="2785618"/>
                    <a:pt x="8546464" y="2860040"/>
                    <a:pt x="845464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6223A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1600" y="7338060"/>
            <a:ext cx="4114800" cy="411480"/>
            <a:chOff x="0" y="0"/>
            <a:chExt cx="5486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486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99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IDEA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1600" y="7749540"/>
            <a:ext cx="5623560" cy="1234440"/>
            <a:chOff x="0" y="0"/>
            <a:chExt cx="7498080" cy="1645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98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74980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“Find the most relevant documents efficiently.”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425815" y="2665095"/>
            <a:ext cx="8934450" cy="1034034"/>
            <a:chOff x="0" y="0"/>
            <a:chExt cx="11912600" cy="13787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9126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1191260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11744960" y="0"/>
                  </a:lnTo>
                  <a:cubicBezTo>
                    <a:pt x="11837543" y="0"/>
                    <a:pt x="11912600" y="75057"/>
                    <a:pt x="11912600" y="167640"/>
                  </a:cubicBezTo>
                  <a:lnTo>
                    <a:pt x="11912600" y="1211072"/>
                  </a:lnTo>
                  <a:cubicBezTo>
                    <a:pt x="11912600" y="1303655"/>
                    <a:pt x="11837543" y="1378712"/>
                    <a:pt x="11744960" y="1378712"/>
                  </a:cubicBezTo>
                  <a:lnTo>
                    <a:pt x="167640" y="1378712"/>
                  </a:lnTo>
                  <a:cubicBezTo>
                    <a:pt x="75057" y="1378712"/>
                    <a:pt x="0" y="1303655"/>
                    <a:pt x="0" y="1211072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645271" y="2829687"/>
            <a:ext cx="704850" cy="704850"/>
            <a:chOff x="0" y="0"/>
            <a:chExt cx="939800" cy="939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833104" y="3017520"/>
            <a:ext cx="329184" cy="329184"/>
            <a:chOff x="0" y="0"/>
            <a:chExt cx="438912" cy="438912"/>
          </a:xfrm>
        </p:grpSpPr>
        <p:sp>
          <p:nvSpPr>
            <p:cNvPr name="Freeform 45" id="45" descr="/home/claude/proj/icons/file_cyan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01200" y="2674620"/>
            <a:ext cx="7406640" cy="1014984"/>
            <a:chOff x="0" y="0"/>
            <a:chExt cx="9875520" cy="13533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755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188" r="0" b="-921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8755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Document Collection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rot="5125980">
            <a:off x="12713589" y="3844671"/>
            <a:ext cx="358902" cy="0"/>
          </a:xfrm>
          <a:prstGeom prst="line">
            <a:avLst/>
          </a:prstGeom>
          <a:ln cap="rnd" w="19050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8425815" y="4009263"/>
            <a:ext cx="8934450" cy="1034034"/>
            <a:chOff x="0" y="0"/>
            <a:chExt cx="11912600" cy="13787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9126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1191260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11744960" y="0"/>
                  </a:lnTo>
                  <a:cubicBezTo>
                    <a:pt x="11837543" y="0"/>
                    <a:pt x="11912600" y="75057"/>
                    <a:pt x="11912600" y="167640"/>
                  </a:cubicBezTo>
                  <a:lnTo>
                    <a:pt x="11912600" y="1211072"/>
                  </a:lnTo>
                  <a:cubicBezTo>
                    <a:pt x="11912600" y="1303655"/>
                    <a:pt x="11837543" y="1378712"/>
                    <a:pt x="11744960" y="1378712"/>
                  </a:cubicBezTo>
                  <a:lnTo>
                    <a:pt x="167640" y="1378712"/>
                  </a:lnTo>
                  <a:cubicBezTo>
                    <a:pt x="75057" y="1378712"/>
                    <a:pt x="0" y="1303655"/>
                    <a:pt x="0" y="1211072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645271" y="4173855"/>
            <a:ext cx="704850" cy="704850"/>
            <a:chOff x="0" y="0"/>
            <a:chExt cx="939800" cy="939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833104" y="4361688"/>
            <a:ext cx="329184" cy="329184"/>
            <a:chOff x="0" y="0"/>
            <a:chExt cx="438912" cy="438912"/>
          </a:xfrm>
        </p:grpSpPr>
        <p:sp>
          <p:nvSpPr>
            <p:cNvPr name="Freeform 55" id="55" descr="/home/claude/proj/icons/layers_cyan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1200" y="4018788"/>
            <a:ext cx="7406640" cy="1014984"/>
            <a:chOff x="0" y="0"/>
            <a:chExt cx="9875520" cy="13533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755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188" r="0" b="-9218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8755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Indexing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5125980">
            <a:off x="12713589" y="5188839"/>
            <a:ext cx="358902" cy="0"/>
          </a:xfrm>
          <a:prstGeom prst="line">
            <a:avLst/>
          </a:prstGeom>
          <a:ln cap="rnd" w="19050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0" id="60"/>
          <p:cNvGrpSpPr/>
          <p:nvPr/>
        </p:nvGrpSpPr>
        <p:grpSpPr>
          <a:xfrm rot="0">
            <a:off x="8425815" y="5353431"/>
            <a:ext cx="8934450" cy="1034034"/>
            <a:chOff x="0" y="0"/>
            <a:chExt cx="11912600" cy="13787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9126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1191260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11744960" y="0"/>
                  </a:lnTo>
                  <a:cubicBezTo>
                    <a:pt x="11837543" y="0"/>
                    <a:pt x="11912600" y="75057"/>
                    <a:pt x="11912600" y="167640"/>
                  </a:cubicBezTo>
                  <a:lnTo>
                    <a:pt x="11912600" y="1211072"/>
                  </a:lnTo>
                  <a:cubicBezTo>
                    <a:pt x="11912600" y="1303655"/>
                    <a:pt x="11837543" y="1378712"/>
                    <a:pt x="11744960" y="1378712"/>
                  </a:cubicBezTo>
                  <a:lnTo>
                    <a:pt x="167640" y="1378712"/>
                  </a:lnTo>
                  <a:cubicBezTo>
                    <a:pt x="75057" y="1378712"/>
                    <a:pt x="0" y="1303655"/>
                    <a:pt x="0" y="1211072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8645271" y="5518023"/>
            <a:ext cx="704850" cy="704850"/>
            <a:chOff x="0" y="0"/>
            <a:chExt cx="939800" cy="939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833104" y="5705856"/>
            <a:ext cx="329184" cy="329184"/>
            <a:chOff x="0" y="0"/>
            <a:chExt cx="438912" cy="438912"/>
          </a:xfrm>
        </p:grpSpPr>
        <p:sp>
          <p:nvSpPr>
            <p:cNvPr name="Freeform 65" id="65" descr="/home/claude/proj/icons/search_cyan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601200" y="5362956"/>
            <a:ext cx="7406640" cy="1014984"/>
            <a:chOff x="0" y="0"/>
            <a:chExt cx="9875520" cy="13533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8755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188" r="0" b="-9218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8755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 Processing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5125980">
            <a:off x="12713589" y="6533007"/>
            <a:ext cx="358902" cy="0"/>
          </a:xfrm>
          <a:prstGeom prst="line">
            <a:avLst/>
          </a:prstGeom>
          <a:ln cap="rnd" w="19050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0" id="70"/>
          <p:cNvGrpSpPr/>
          <p:nvPr/>
        </p:nvGrpSpPr>
        <p:grpSpPr>
          <a:xfrm rot="0">
            <a:off x="8425815" y="6697599"/>
            <a:ext cx="8934450" cy="1034034"/>
            <a:chOff x="0" y="0"/>
            <a:chExt cx="11912600" cy="13787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9126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1191260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11744960" y="0"/>
                  </a:lnTo>
                  <a:cubicBezTo>
                    <a:pt x="11837543" y="0"/>
                    <a:pt x="11912600" y="75057"/>
                    <a:pt x="11912600" y="167640"/>
                  </a:cubicBezTo>
                  <a:lnTo>
                    <a:pt x="11912600" y="1211072"/>
                  </a:lnTo>
                  <a:cubicBezTo>
                    <a:pt x="11912600" y="1303655"/>
                    <a:pt x="11837543" y="1378712"/>
                    <a:pt x="11744960" y="1378712"/>
                  </a:cubicBezTo>
                  <a:lnTo>
                    <a:pt x="167640" y="1378712"/>
                  </a:lnTo>
                  <a:cubicBezTo>
                    <a:pt x="75057" y="1378712"/>
                    <a:pt x="0" y="1303655"/>
                    <a:pt x="0" y="1211072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645271" y="6862191"/>
            <a:ext cx="704850" cy="704850"/>
            <a:chOff x="0" y="0"/>
            <a:chExt cx="939800" cy="939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8833104" y="7050024"/>
            <a:ext cx="329184" cy="329184"/>
            <a:chOff x="0" y="0"/>
            <a:chExt cx="438912" cy="438912"/>
          </a:xfrm>
        </p:grpSpPr>
        <p:sp>
          <p:nvSpPr>
            <p:cNvPr name="Freeform 75" id="75" descr="/home/claude/proj/icons/hash_cyan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01200" y="6707124"/>
            <a:ext cx="7406640" cy="1014984"/>
            <a:chOff x="0" y="0"/>
            <a:chExt cx="9875520" cy="135331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8755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188" r="0" b="-9218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98755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Relevance Scoring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 rot="5125980">
            <a:off x="12713589" y="7877175"/>
            <a:ext cx="358902" cy="0"/>
          </a:xfrm>
          <a:prstGeom prst="line">
            <a:avLst/>
          </a:prstGeom>
          <a:ln cap="rnd" w="19050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0" id="80"/>
          <p:cNvGrpSpPr/>
          <p:nvPr/>
        </p:nvGrpSpPr>
        <p:grpSpPr>
          <a:xfrm rot="0">
            <a:off x="8425815" y="8041767"/>
            <a:ext cx="8934450" cy="1034034"/>
            <a:chOff x="0" y="0"/>
            <a:chExt cx="11912600" cy="13787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9126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1191260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11744960" y="0"/>
                  </a:lnTo>
                  <a:cubicBezTo>
                    <a:pt x="11837543" y="0"/>
                    <a:pt x="11912600" y="75057"/>
                    <a:pt x="11912600" y="167640"/>
                  </a:cubicBezTo>
                  <a:lnTo>
                    <a:pt x="11912600" y="1211072"/>
                  </a:lnTo>
                  <a:cubicBezTo>
                    <a:pt x="11912600" y="1303655"/>
                    <a:pt x="11837543" y="1378712"/>
                    <a:pt x="11744960" y="1378712"/>
                  </a:cubicBezTo>
                  <a:lnTo>
                    <a:pt x="167640" y="1378712"/>
                  </a:lnTo>
                  <a:cubicBezTo>
                    <a:pt x="75057" y="1378712"/>
                    <a:pt x="0" y="1303655"/>
                    <a:pt x="0" y="1211072"/>
                  </a:cubicBezTo>
                  <a:close/>
                </a:path>
              </a:pathLst>
            </a:custGeom>
            <a:solidFill>
              <a:srgbClr val="16223A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8645271" y="8206359"/>
            <a:ext cx="704850" cy="704850"/>
            <a:chOff x="0" y="0"/>
            <a:chExt cx="939800" cy="939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8833104" y="8394192"/>
            <a:ext cx="329184" cy="329184"/>
            <a:chOff x="0" y="0"/>
            <a:chExt cx="438912" cy="438912"/>
          </a:xfrm>
        </p:grpSpPr>
        <p:sp>
          <p:nvSpPr>
            <p:cNvPr name="Freeform 85" id="85" descr="/home/claude/proj/icons/list_cyan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01200" y="8051292"/>
            <a:ext cx="7406640" cy="1014984"/>
            <a:chOff x="0" y="0"/>
            <a:chExt cx="9875520" cy="13533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875520" cy="1353312"/>
            </a:xfrm>
            <a:custGeom>
              <a:avLst/>
              <a:gdLst/>
              <a:ahLst/>
              <a:cxnLst/>
              <a:rect r="r" b="b" t="t" l="l"/>
              <a:pathLst>
                <a:path h="135331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188" r="0" b="-9218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875520" cy="1400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Ranked Results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13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INTRODUCTION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5773400" cy="1097280"/>
            <a:chOff x="0" y="0"/>
            <a:chExt cx="210312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Do We Need a Mini Search Engine?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2802255"/>
            <a:ext cx="7631430" cy="4888230"/>
            <a:chOff x="0" y="0"/>
            <a:chExt cx="10175240" cy="6517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75240" cy="6517640"/>
            </a:xfrm>
            <a:custGeom>
              <a:avLst/>
              <a:gdLst/>
              <a:ahLst/>
              <a:cxnLst/>
              <a:rect r="r" b="b" t="t" l="l"/>
              <a:pathLst>
                <a:path h="6517640" w="1017524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010013" y="0"/>
                  </a:lnTo>
                  <a:cubicBezTo>
                    <a:pt x="10101326" y="0"/>
                    <a:pt x="10175240" y="73914"/>
                    <a:pt x="10175240" y="165227"/>
                  </a:cubicBezTo>
                  <a:lnTo>
                    <a:pt x="10175240" y="6352413"/>
                  </a:lnTo>
                  <a:cubicBezTo>
                    <a:pt x="10175240" y="6443726"/>
                    <a:pt x="10101326" y="6517640"/>
                    <a:pt x="10010013" y="6517640"/>
                  </a:cubicBezTo>
                  <a:lnTo>
                    <a:pt x="165227" y="6517640"/>
                  </a:lnTo>
                  <a:cubicBezTo>
                    <a:pt x="73914" y="6517640"/>
                    <a:pt x="0" y="6443726"/>
                    <a:pt x="0" y="6352413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5A3A3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40180" y="3113532"/>
            <a:ext cx="6652260" cy="480060"/>
            <a:chOff x="0" y="0"/>
            <a:chExt cx="88696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69680" cy="640080"/>
            </a:xfrm>
            <a:custGeom>
              <a:avLst/>
              <a:gdLst/>
              <a:ahLst/>
              <a:cxnLst/>
              <a:rect r="r" b="b" t="t" l="l"/>
              <a:pathLst>
                <a:path h="6400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006" r="0" b="-22000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8696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0A0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WITHOUT INDEXING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3840480"/>
            <a:ext cx="6240780" cy="576072"/>
            <a:chOff x="0" y="0"/>
            <a:chExt cx="8321040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Query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4389120"/>
            <a:ext cx="548640" cy="342900"/>
            <a:chOff x="0" y="0"/>
            <a:chExt cx="73152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4567428"/>
            <a:ext cx="6240780" cy="576072"/>
            <a:chOff x="0" y="0"/>
            <a:chExt cx="8321040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Document 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5116068"/>
            <a:ext cx="548640" cy="342900"/>
            <a:chOff x="0" y="0"/>
            <a:chExt cx="731520" cy="457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45920" y="5294376"/>
            <a:ext cx="6240780" cy="576072"/>
            <a:chOff x="0" y="0"/>
            <a:chExt cx="8321040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Document 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45920" y="5843016"/>
            <a:ext cx="548640" cy="342900"/>
            <a:chOff x="0" y="0"/>
            <a:chExt cx="731520" cy="457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45920" y="6021324"/>
            <a:ext cx="6240780" cy="576072"/>
            <a:chOff x="0" y="0"/>
            <a:chExt cx="8321040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Document 3 ...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45920" y="6569964"/>
            <a:ext cx="548640" cy="342900"/>
            <a:chOff x="0" y="0"/>
            <a:chExt cx="73152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45920" y="6748272"/>
            <a:ext cx="6240780" cy="576072"/>
            <a:chOff x="0" y="0"/>
            <a:chExt cx="8321040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0A0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Slow / Inefficient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85935" y="2802255"/>
            <a:ext cx="7631430" cy="4888230"/>
            <a:chOff x="0" y="0"/>
            <a:chExt cx="10175240" cy="6517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75240" cy="6517640"/>
            </a:xfrm>
            <a:custGeom>
              <a:avLst/>
              <a:gdLst/>
              <a:ahLst/>
              <a:cxnLst/>
              <a:rect r="r" b="b" t="t" l="l"/>
              <a:pathLst>
                <a:path h="6517640" w="1017524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010013" y="0"/>
                  </a:lnTo>
                  <a:cubicBezTo>
                    <a:pt x="10101326" y="0"/>
                    <a:pt x="10175240" y="73914"/>
                    <a:pt x="10175240" y="165227"/>
                  </a:cubicBezTo>
                  <a:lnTo>
                    <a:pt x="10175240" y="6352413"/>
                  </a:lnTo>
                  <a:cubicBezTo>
                    <a:pt x="10175240" y="6443726"/>
                    <a:pt x="10101326" y="6517640"/>
                    <a:pt x="10010013" y="6517640"/>
                  </a:cubicBezTo>
                  <a:lnTo>
                    <a:pt x="165227" y="6517640"/>
                  </a:lnTo>
                  <a:cubicBezTo>
                    <a:pt x="73914" y="6517640"/>
                    <a:pt x="0" y="6443726"/>
                    <a:pt x="0" y="6352413"/>
                  </a:cubicBezTo>
                  <a:close/>
                </a:path>
              </a:pathLst>
            </a:custGeom>
            <a:solidFill>
              <a:srgbClr val="16223A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875520" y="3113532"/>
            <a:ext cx="6652260" cy="480060"/>
            <a:chOff x="0" y="0"/>
            <a:chExt cx="886968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869680" cy="640080"/>
            </a:xfrm>
            <a:custGeom>
              <a:avLst/>
              <a:gdLst/>
              <a:ahLst/>
              <a:cxnLst/>
              <a:rect r="r" b="b" t="t" l="l"/>
              <a:pathLst>
                <a:path h="64008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006" r="0" b="-22000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8696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 INFORMATION RETRIEVAL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081260" y="3840480"/>
            <a:ext cx="6240780" cy="576072"/>
            <a:chOff x="0" y="0"/>
            <a:chExt cx="8321040" cy="7680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Query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081260" y="4389120"/>
            <a:ext cx="548640" cy="342900"/>
            <a:chOff x="0" y="0"/>
            <a:chExt cx="731520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9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081260" y="4567428"/>
            <a:ext cx="6240780" cy="576072"/>
            <a:chOff x="0" y="0"/>
            <a:chExt cx="832104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Hash Lookup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81260" y="5116068"/>
            <a:ext cx="548640" cy="342900"/>
            <a:chOff x="0" y="0"/>
            <a:chExt cx="731520" cy="457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9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81260" y="5294376"/>
            <a:ext cx="6240780" cy="576072"/>
            <a:chOff x="0" y="0"/>
            <a:chExt cx="8321040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Inverted Index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081260" y="5843016"/>
            <a:ext cx="548640" cy="342900"/>
            <a:chOff x="0" y="0"/>
            <a:chExt cx="731520" cy="457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9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81260" y="6021324"/>
            <a:ext cx="6240780" cy="576072"/>
            <a:chOff x="0" y="0"/>
            <a:chExt cx="8321040" cy="7680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TF-IDF Ranking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081260" y="6569964"/>
            <a:ext cx="548640" cy="342900"/>
            <a:chOff x="0" y="0"/>
            <a:chExt cx="731520" cy="457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3152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9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081260" y="6748272"/>
            <a:ext cx="6240780" cy="576072"/>
            <a:chOff x="0" y="0"/>
            <a:chExt cx="8321040" cy="7680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321040" cy="768096"/>
            </a:xfrm>
            <a:custGeom>
              <a:avLst/>
              <a:gdLst/>
              <a:ahLst/>
              <a:cxnLst/>
              <a:rect r="r" b="b" t="t" l="l"/>
              <a:pathLst>
                <a:path h="7680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832104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Best Results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692953" y="4925854"/>
            <a:ext cx="901636" cy="901636"/>
            <a:chOff x="0" y="0"/>
            <a:chExt cx="1202182" cy="120218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02182" cy="1202182"/>
            </a:xfrm>
            <a:custGeom>
              <a:avLst/>
              <a:gdLst/>
              <a:ahLst/>
              <a:cxnLst/>
              <a:rect r="r" b="b" t="t" l="l"/>
              <a:pathLst>
                <a:path h="1202182" w="1202182">
                  <a:moveTo>
                    <a:pt x="0" y="601091"/>
                  </a:moveTo>
                  <a:cubicBezTo>
                    <a:pt x="0" y="269113"/>
                    <a:pt x="269113" y="0"/>
                    <a:pt x="601091" y="0"/>
                  </a:cubicBezTo>
                  <a:cubicBezTo>
                    <a:pt x="933069" y="0"/>
                    <a:pt x="1202182" y="269113"/>
                    <a:pt x="1202182" y="601091"/>
                  </a:cubicBezTo>
                  <a:cubicBezTo>
                    <a:pt x="1202182" y="933069"/>
                    <a:pt x="933069" y="1202182"/>
                    <a:pt x="601091" y="1202182"/>
                  </a:cubicBezTo>
                  <a:cubicBezTo>
                    <a:pt x="269113" y="1202182"/>
                    <a:pt x="0" y="933069"/>
                    <a:pt x="0" y="601091"/>
                  </a:cubicBezTo>
                  <a:close/>
                </a:path>
              </a:pathLst>
            </a:custGeom>
            <a:solidFill>
              <a:srgbClr val="0A0E17"/>
            </a:solidFill>
            <a:ln w="23812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8704859" y="4937760"/>
            <a:ext cx="877824" cy="877824"/>
            <a:chOff x="0" y="0"/>
            <a:chExt cx="1170432" cy="1170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1704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8B96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0595" y="8220075"/>
            <a:ext cx="457962" cy="457962"/>
            <a:chOff x="0" y="0"/>
            <a:chExt cx="610616" cy="6106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60120" y="8229600"/>
            <a:ext cx="438912" cy="438912"/>
            <a:chOff x="0" y="0"/>
            <a:chExt cx="585216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63624" y="8119872"/>
            <a:ext cx="4800600" cy="754380"/>
            <a:chOff x="0" y="0"/>
            <a:chExt cx="6400800" cy="10058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6400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document collections make naive searching inefficient.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505575" y="8220075"/>
            <a:ext cx="457962" cy="457962"/>
            <a:chOff x="0" y="0"/>
            <a:chExt cx="610616" cy="6106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6515100" y="8229600"/>
            <a:ext cx="438912" cy="438912"/>
            <a:chOff x="0" y="0"/>
            <a:chExt cx="585216" cy="58521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118604" y="8119872"/>
            <a:ext cx="4800600" cy="754380"/>
            <a:chOff x="0" y="0"/>
            <a:chExt cx="6400800" cy="10058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6400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systems need efficient indexing and retrieval.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060555" y="8220075"/>
            <a:ext cx="457962" cy="457962"/>
            <a:chOff x="0" y="0"/>
            <a:chExt cx="610616" cy="61061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070080" y="8229600"/>
            <a:ext cx="438912" cy="438912"/>
            <a:chOff x="0" y="0"/>
            <a:chExt cx="585216" cy="58521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673584" y="8119872"/>
            <a:ext cx="4800600" cy="754380"/>
            <a:chOff x="0" y="0"/>
            <a:chExt cx="6400800" cy="10058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6400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Relevance ranking helps return the most useful documents first.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13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PROBLEM &amp; OBJECTIVES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5773400" cy="1097280"/>
            <a:chOff x="0" y="0"/>
            <a:chExt cx="210312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 &amp; Objectives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2665095"/>
            <a:ext cx="16382238" cy="1390650"/>
            <a:chOff x="0" y="0"/>
            <a:chExt cx="21842984" cy="1854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2985" cy="1854200"/>
            </a:xfrm>
            <a:custGeom>
              <a:avLst/>
              <a:gdLst/>
              <a:ahLst/>
              <a:cxnLst/>
              <a:rect r="r" b="b" t="t" l="l"/>
              <a:pathLst>
                <a:path h="1854200" w="21842985">
                  <a:moveTo>
                    <a:pt x="0" y="166878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21676106" y="0"/>
                  </a:lnTo>
                  <a:cubicBezTo>
                    <a:pt x="21768308" y="0"/>
                    <a:pt x="21842985" y="74676"/>
                    <a:pt x="21842985" y="166878"/>
                  </a:cubicBezTo>
                  <a:lnTo>
                    <a:pt x="21842985" y="1687322"/>
                  </a:lnTo>
                  <a:cubicBezTo>
                    <a:pt x="21842985" y="1779524"/>
                    <a:pt x="21768308" y="1854200"/>
                    <a:pt x="21676106" y="1854200"/>
                  </a:cubicBezTo>
                  <a:lnTo>
                    <a:pt x="166878" y="1854200"/>
                  </a:lnTo>
                  <a:cubicBezTo>
                    <a:pt x="74676" y="1854200"/>
                    <a:pt x="0" y="1779524"/>
                    <a:pt x="0" y="1687322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40180" y="2674620"/>
            <a:ext cx="15499080" cy="1371600"/>
            <a:chOff x="0" y="0"/>
            <a:chExt cx="2066544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65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180" r="0" b="-1701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06654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475" i="true">
                  <a:solidFill>
                    <a:srgbClr val="E7ECF5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Efficiently locating relevant information from large document collections is challenging as digital data continues to grow.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595" y="4585335"/>
            <a:ext cx="3832098" cy="4339590"/>
            <a:chOff x="0" y="0"/>
            <a:chExt cx="5109464" cy="5786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09464" cy="5786120"/>
            </a:xfrm>
            <a:custGeom>
              <a:avLst/>
              <a:gdLst/>
              <a:ahLst/>
              <a:cxnLst/>
              <a:rect r="r" b="b" t="t" l="l"/>
              <a:pathLst>
                <a:path h="5786120" w="510946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944110" y="0"/>
                  </a:lnTo>
                  <a:cubicBezTo>
                    <a:pt x="5035423" y="0"/>
                    <a:pt x="5109464" y="74041"/>
                    <a:pt x="5109464" y="165354"/>
                  </a:cubicBezTo>
                  <a:lnTo>
                    <a:pt x="5109464" y="5620766"/>
                  </a:lnTo>
                  <a:cubicBezTo>
                    <a:pt x="5109464" y="5712079"/>
                    <a:pt x="5035423" y="5786120"/>
                    <a:pt x="4944110" y="5786120"/>
                  </a:cubicBezTo>
                  <a:lnTo>
                    <a:pt x="165354" y="5786120"/>
                  </a:lnTo>
                  <a:cubicBezTo>
                    <a:pt x="74041" y="5786120"/>
                    <a:pt x="0" y="5712079"/>
                    <a:pt x="0" y="5620766"/>
                  </a:cubicBezTo>
                  <a:close/>
                </a:path>
              </a:pathLst>
            </a:custGeom>
            <a:solidFill>
              <a:srgbClr val="16223A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44168" y="4896612"/>
            <a:ext cx="2057400" cy="754380"/>
            <a:chOff x="0" y="0"/>
            <a:chExt cx="274320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7432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E3A5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597783" y="4914519"/>
            <a:ext cx="773430" cy="773430"/>
            <a:chOff x="0" y="0"/>
            <a:chExt cx="1031240" cy="1031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803447" y="5120183"/>
            <a:ext cx="362102" cy="362102"/>
            <a:chOff x="0" y="0"/>
            <a:chExt cx="482803" cy="482803"/>
          </a:xfrm>
        </p:grpSpPr>
        <p:sp>
          <p:nvSpPr>
            <p:cNvPr name="Freeform 27" id="27" descr="/home/claude/proj/icons/layers_cyan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0" b="1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44168" y="6035040"/>
            <a:ext cx="3044952" cy="548640"/>
            <a:chOff x="0" y="0"/>
            <a:chExt cx="4059936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59936" cy="731520"/>
            </a:xfrm>
            <a:custGeom>
              <a:avLst/>
              <a:gdLst/>
              <a:ahLst/>
              <a:cxnLst/>
              <a:rect r="r" b="b" t="t" l="l"/>
              <a:pathLst>
                <a:path h="7315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41" r="0" b="-581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05993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 spc="22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4168" y="6652260"/>
            <a:ext cx="3044952" cy="1920240"/>
            <a:chOff x="0" y="0"/>
            <a:chExt cx="4059936" cy="25603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59936" cy="2560320"/>
            </a:xfrm>
            <a:custGeom>
              <a:avLst/>
              <a:gdLst/>
              <a:ahLst/>
              <a:cxnLst/>
              <a:rect r="r" b="b" t="t" l="l"/>
              <a:pathLst>
                <a:path h="25603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12" t="0" r="-3091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4059936" cy="2655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an efficient document index.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7691" y="4585335"/>
            <a:ext cx="3832098" cy="4339590"/>
            <a:chOff x="0" y="0"/>
            <a:chExt cx="5109464" cy="5786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09464" cy="5786120"/>
            </a:xfrm>
            <a:custGeom>
              <a:avLst/>
              <a:gdLst/>
              <a:ahLst/>
              <a:cxnLst/>
              <a:rect r="r" b="b" t="t" l="l"/>
              <a:pathLst>
                <a:path h="5786120" w="510946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944110" y="0"/>
                  </a:lnTo>
                  <a:cubicBezTo>
                    <a:pt x="5035423" y="0"/>
                    <a:pt x="5109464" y="74041"/>
                    <a:pt x="5109464" y="165354"/>
                  </a:cubicBezTo>
                  <a:lnTo>
                    <a:pt x="5109464" y="5620766"/>
                  </a:lnTo>
                  <a:cubicBezTo>
                    <a:pt x="5109464" y="5712079"/>
                    <a:pt x="5035423" y="5786120"/>
                    <a:pt x="4944110" y="5786120"/>
                  </a:cubicBezTo>
                  <a:lnTo>
                    <a:pt x="165354" y="5786120"/>
                  </a:lnTo>
                  <a:cubicBezTo>
                    <a:pt x="74041" y="5786120"/>
                    <a:pt x="0" y="5712079"/>
                    <a:pt x="0" y="5620766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5541264" y="4896612"/>
            <a:ext cx="2057400" cy="754380"/>
            <a:chOff x="0" y="0"/>
            <a:chExt cx="274320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7432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E3A5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794879" y="4914519"/>
            <a:ext cx="773430" cy="773430"/>
            <a:chOff x="0" y="0"/>
            <a:chExt cx="1031240" cy="1031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000543" y="5120183"/>
            <a:ext cx="362102" cy="362102"/>
            <a:chOff x="0" y="0"/>
            <a:chExt cx="482803" cy="482803"/>
          </a:xfrm>
        </p:grpSpPr>
        <p:sp>
          <p:nvSpPr>
            <p:cNvPr name="Freeform 42" id="42" descr="/home/claude/proj/icons/search_cyan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0" b="1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541264" y="6035040"/>
            <a:ext cx="3044952" cy="548640"/>
            <a:chOff x="0" y="0"/>
            <a:chExt cx="4059936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59936" cy="731520"/>
            </a:xfrm>
            <a:custGeom>
              <a:avLst/>
              <a:gdLst/>
              <a:ahLst/>
              <a:cxnLst/>
              <a:rect r="r" b="b" t="t" l="l"/>
              <a:pathLst>
                <a:path h="7315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41" r="0" b="-5814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05993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 spc="22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541264" y="6652260"/>
            <a:ext cx="3044952" cy="1920240"/>
            <a:chOff x="0" y="0"/>
            <a:chExt cx="4059936" cy="2560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59936" cy="2560320"/>
            </a:xfrm>
            <a:custGeom>
              <a:avLst/>
              <a:gdLst/>
              <a:ahLst/>
              <a:cxnLst/>
              <a:rect r="r" b="b" t="t" l="l"/>
              <a:pathLst>
                <a:path h="25603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12" t="0" r="-3091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0"/>
              <a:ext cx="4059936" cy="2655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 user queries and retrieve matching documents.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44787" y="4585335"/>
            <a:ext cx="3832098" cy="4339590"/>
            <a:chOff x="0" y="0"/>
            <a:chExt cx="5109464" cy="5786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09464" cy="5786120"/>
            </a:xfrm>
            <a:custGeom>
              <a:avLst/>
              <a:gdLst/>
              <a:ahLst/>
              <a:cxnLst/>
              <a:rect r="r" b="b" t="t" l="l"/>
              <a:pathLst>
                <a:path h="5786120" w="510946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944110" y="0"/>
                  </a:lnTo>
                  <a:cubicBezTo>
                    <a:pt x="5035423" y="0"/>
                    <a:pt x="5109464" y="74041"/>
                    <a:pt x="5109464" y="165354"/>
                  </a:cubicBezTo>
                  <a:lnTo>
                    <a:pt x="5109464" y="5620766"/>
                  </a:lnTo>
                  <a:cubicBezTo>
                    <a:pt x="5109464" y="5712079"/>
                    <a:pt x="5035423" y="5786120"/>
                    <a:pt x="4944110" y="5786120"/>
                  </a:cubicBezTo>
                  <a:lnTo>
                    <a:pt x="165354" y="5786120"/>
                  </a:lnTo>
                  <a:cubicBezTo>
                    <a:pt x="74041" y="5786120"/>
                    <a:pt x="0" y="5712079"/>
                    <a:pt x="0" y="5620766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738360" y="4896612"/>
            <a:ext cx="2057400" cy="754380"/>
            <a:chOff x="0" y="0"/>
            <a:chExt cx="274320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7432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E3A5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991975" y="4914519"/>
            <a:ext cx="773430" cy="773430"/>
            <a:chOff x="0" y="0"/>
            <a:chExt cx="1031240" cy="1031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197639" y="5120183"/>
            <a:ext cx="362102" cy="362102"/>
            <a:chOff x="0" y="0"/>
            <a:chExt cx="482803" cy="482803"/>
          </a:xfrm>
        </p:grpSpPr>
        <p:sp>
          <p:nvSpPr>
            <p:cNvPr name="Freeform 57" id="57" descr="/home/claude/proj/icons/bar-chart_cyan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0" b="1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38360" y="6035040"/>
            <a:ext cx="3044952" cy="548640"/>
            <a:chOff x="0" y="0"/>
            <a:chExt cx="4059936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59936" cy="731520"/>
            </a:xfrm>
            <a:custGeom>
              <a:avLst/>
              <a:gdLst/>
              <a:ahLst/>
              <a:cxnLst/>
              <a:rect r="r" b="b" t="t" l="l"/>
              <a:pathLst>
                <a:path h="7315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41" r="0" b="-5814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05993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 spc="22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38360" y="6652260"/>
            <a:ext cx="3044952" cy="1920240"/>
            <a:chOff x="0" y="0"/>
            <a:chExt cx="4059936" cy="2560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59936" cy="2560320"/>
            </a:xfrm>
            <a:custGeom>
              <a:avLst/>
              <a:gdLst/>
              <a:ahLst/>
              <a:cxnLst/>
              <a:rect r="r" b="b" t="t" l="l"/>
              <a:pathLst>
                <a:path h="25603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12" t="0" r="-3091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4059936" cy="2655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documents according to relevance.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541883" y="4585335"/>
            <a:ext cx="3832098" cy="4339590"/>
            <a:chOff x="0" y="0"/>
            <a:chExt cx="5109464" cy="57861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09464" cy="5786120"/>
            </a:xfrm>
            <a:custGeom>
              <a:avLst/>
              <a:gdLst/>
              <a:ahLst/>
              <a:cxnLst/>
              <a:rect r="r" b="b" t="t" l="l"/>
              <a:pathLst>
                <a:path h="5786120" w="510946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4944110" y="0"/>
                  </a:lnTo>
                  <a:cubicBezTo>
                    <a:pt x="5035423" y="0"/>
                    <a:pt x="5109464" y="74041"/>
                    <a:pt x="5109464" y="165354"/>
                  </a:cubicBezTo>
                  <a:lnTo>
                    <a:pt x="5109464" y="5620766"/>
                  </a:lnTo>
                  <a:cubicBezTo>
                    <a:pt x="5109464" y="5712079"/>
                    <a:pt x="5035423" y="5786120"/>
                    <a:pt x="4944110" y="5786120"/>
                  </a:cubicBezTo>
                  <a:lnTo>
                    <a:pt x="165354" y="5786120"/>
                  </a:lnTo>
                  <a:cubicBezTo>
                    <a:pt x="74041" y="5786120"/>
                    <a:pt x="0" y="5712079"/>
                    <a:pt x="0" y="5620766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935456" y="4896612"/>
            <a:ext cx="2057400" cy="754380"/>
            <a:chOff x="0" y="0"/>
            <a:chExt cx="2743200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43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7432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E3A5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189071" y="4914519"/>
            <a:ext cx="773430" cy="773430"/>
            <a:chOff x="0" y="0"/>
            <a:chExt cx="1031240" cy="10312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6394735" y="5120183"/>
            <a:ext cx="362102" cy="362102"/>
            <a:chOff x="0" y="0"/>
            <a:chExt cx="482803" cy="482803"/>
          </a:xfrm>
        </p:grpSpPr>
        <p:sp>
          <p:nvSpPr>
            <p:cNvPr name="Freeform 72" id="72" descr="/home/claude/proj/icons/zap_cyan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0" b="1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935456" y="6035040"/>
            <a:ext cx="3044952" cy="548640"/>
            <a:chOff x="0" y="0"/>
            <a:chExt cx="4059936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059936" cy="731520"/>
            </a:xfrm>
            <a:custGeom>
              <a:avLst/>
              <a:gdLst/>
              <a:ahLst/>
              <a:cxnLst/>
              <a:rect r="r" b="b" t="t" l="l"/>
              <a:pathLst>
                <a:path h="7315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41" r="0" b="-5814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405993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 spc="22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935456" y="6652260"/>
            <a:ext cx="3044952" cy="1920240"/>
            <a:chOff x="0" y="0"/>
            <a:chExt cx="4059936" cy="25603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59936" cy="2560320"/>
            </a:xfrm>
            <a:custGeom>
              <a:avLst/>
              <a:gdLst/>
              <a:ahLst/>
              <a:cxnLst/>
              <a:rect r="r" b="b" t="t" l="l"/>
              <a:pathLst>
                <a:path h="256032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12" t="0" r="-3091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0"/>
              <a:ext cx="4059936" cy="2655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core DSA techniques for efficient retrieval.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13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REQUIREMENTS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5773400" cy="1097280"/>
            <a:chOff x="0" y="0"/>
            <a:chExt cx="210312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Software &amp; Hardware Requirements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2802255"/>
            <a:ext cx="7905750" cy="6122670"/>
            <a:chOff x="0" y="0"/>
            <a:chExt cx="10541000" cy="8163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1000" cy="8163560"/>
            </a:xfrm>
            <a:custGeom>
              <a:avLst/>
              <a:gdLst/>
              <a:ahLst/>
              <a:cxnLst/>
              <a:rect r="r" b="b" t="t" l="l"/>
              <a:pathLst>
                <a:path h="8163560" w="105410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375900" y="0"/>
                  </a:lnTo>
                  <a:cubicBezTo>
                    <a:pt x="10467086" y="0"/>
                    <a:pt x="10541000" y="73914"/>
                    <a:pt x="10541000" y="165100"/>
                  </a:cubicBezTo>
                  <a:lnTo>
                    <a:pt x="10541000" y="7998460"/>
                  </a:lnTo>
                  <a:cubicBezTo>
                    <a:pt x="10541000" y="8089646"/>
                    <a:pt x="10467086" y="8163560"/>
                    <a:pt x="10375900" y="8163560"/>
                  </a:cubicBezTo>
                  <a:lnTo>
                    <a:pt x="165100" y="8163560"/>
                  </a:lnTo>
                  <a:cubicBezTo>
                    <a:pt x="73914" y="8163560"/>
                    <a:pt x="0" y="8089646"/>
                    <a:pt x="0" y="799846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30655" y="3241167"/>
            <a:ext cx="869442" cy="869442"/>
            <a:chOff x="0" y="0"/>
            <a:chExt cx="1159256" cy="11592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61284" y="3471796"/>
            <a:ext cx="408184" cy="408184"/>
            <a:chOff x="0" y="0"/>
            <a:chExt cx="544246" cy="544246"/>
          </a:xfrm>
        </p:grpSpPr>
        <p:sp>
          <p:nvSpPr>
            <p:cNvPr name="Freeform 19" id="19" descr="/home/claude/proj/icons/code_cyan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68880" y="3250692"/>
            <a:ext cx="4800600" cy="850392"/>
            <a:chOff x="0" y="0"/>
            <a:chExt cx="6400800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4008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1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SOFTWARE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7080">
            <a:off x="1433027" y="4247197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440180" y="4361688"/>
            <a:ext cx="6926580" cy="384048"/>
            <a:chOff x="0" y="0"/>
            <a:chExt cx="923544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Operating System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0180" y="4732020"/>
            <a:ext cx="6926580" cy="411480"/>
            <a:chOff x="0" y="0"/>
            <a:chExt cx="923544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2354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/ Linux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7080">
            <a:off x="1433027" y="5097590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40180" y="5212080"/>
            <a:ext cx="6926580" cy="384048"/>
            <a:chOff x="0" y="0"/>
            <a:chExt cx="923544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Programming Language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0180" y="5582412"/>
            <a:ext cx="6926580" cy="411480"/>
            <a:chOff x="0" y="0"/>
            <a:chExt cx="923544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2354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be finalized based on implementation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7080">
            <a:off x="1433027" y="5947982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440180" y="6062472"/>
            <a:ext cx="6926580" cy="384048"/>
            <a:chOff x="0" y="0"/>
            <a:chExt cx="9235440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Development Environment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40180" y="6432804"/>
            <a:ext cx="6926580" cy="411480"/>
            <a:chOff x="0" y="0"/>
            <a:chExt cx="923544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2354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be finalized based on implementation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7080">
            <a:off x="1433027" y="6798374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440180" y="6912864"/>
            <a:ext cx="6926580" cy="384048"/>
            <a:chOff x="0" y="0"/>
            <a:chExt cx="9235440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40180" y="7283196"/>
            <a:ext cx="6926580" cy="411480"/>
            <a:chOff x="0" y="0"/>
            <a:chExt cx="923544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2354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 / document collection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7080">
            <a:off x="1433027" y="7648766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440180" y="7763256"/>
            <a:ext cx="6926580" cy="384048"/>
            <a:chOff x="0" y="0"/>
            <a:chExt cx="9235440" cy="5120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40180" y="8133588"/>
            <a:ext cx="6926580" cy="411480"/>
            <a:chOff x="0" y="0"/>
            <a:chExt cx="923544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2354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Ranked search results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27083" y="2802255"/>
            <a:ext cx="7905750" cy="6122670"/>
            <a:chOff x="0" y="0"/>
            <a:chExt cx="10541000" cy="8163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541000" cy="8163560"/>
            </a:xfrm>
            <a:custGeom>
              <a:avLst/>
              <a:gdLst/>
              <a:ahLst/>
              <a:cxnLst/>
              <a:rect r="r" b="b" t="t" l="l"/>
              <a:pathLst>
                <a:path h="8163560" w="105410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375900" y="0"/>
                  </a:lnTo>
                  <a:cubicBezTo>
                    <a:pt x="10467086" y="0"/>
                    <a:pt x="10541000" y="73914"/>
                    <a:pt x="10541000" y="165100"/>
                  </a:cubicBezTo>
                  <a:lnTo>
                    <a:pt x="10541000" y="7998460"/>
                  </a:lnTo>
                  <a:cubicBezTo>
                    <a:pt x="10541000" y="8089646"/>
                    <a:pt x="10467086" y="8163560"/>
                    <a:pt x="10375900" y="8163560"/>
                  </a:cubicBezTo>
                  <a:lnTo>
                    <a:pt x="165100" y="8163560"/>
                  </a:lnTo>
                  <a:cubicBezTo>
                    <a:pt x="73914" y="8163560"/>
                    <a:pt x="0" y="8089646"/>
                    <a:pt x="0" y="799846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907143" y="3241167"/>
            <a:ext cx="869442" cy="869442"/>
            <a:chOff x="0" y="0"/>
            <a:chExt cx="1159256" cy="11592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137772" y="3471796"/>
            <a:ext cx="408184" cy="408184"/>
            <a:chOff x="0" y="0"/>
            <a:chExt cx="544246" cy="544246"/>
          </a:xfrm>
        </p:grpSpPr>
        <p:sp>
          <p:nvSpPr>
            <p:cNvPr name="Freeform 63" id="63" descr="/home/claude/proj/icons/cpu_purple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945368" y="3250692"/>
            <a:ext cx="4800600" cy="850392"/>
            <a:chOff x="0" y="0"/>
            <a:chExt cx="6400800" cy="11338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00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96" r="0" b="-599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64008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b="true" sz="2850" spc="1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HARDWARE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7080">
            <a:off x="9909515" y="4247197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9916668" y="4361688"/>
            <a:ext cx="6926580" cy="384048"/>
            <a:chOff x="0" y="0"/>
            <a:chExt cx="9235440" cy="5120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Processor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16668" y="4732020"/>
            <a:ext cx="6926580" cy="617220"/>
            <a:chOff x="0" y="0"/>
            <a:chExt cx="9235440" cy="822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923544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x86 processor</a:t>
              </a:r>
            </a:p>
          </p:txBody>
        </p:sp>
      </p:grpSp>
      <p:sp>
        <p:nvSpPr>
          <p:cNvPr name="AutoShape 74" id="74"/>
          <p:cNvSpPr/>
          <p:nvPr/>
        </p:nvSpPr>
        <p:spPr>
          <a:xfrm rot="7080">
            <a:off x="9909515" y="5317046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" id="75"/>
          <p:cNvGrpSpPr/>
          <p:nvPr/>
        </p:nvGrpSpPr>
        <p:grpSpPr>
          <a:xfrm rot="0">
            <a:off x="9916668" y="5431536"/>
            <a:ext cx="6926580" cy="384048"/>
            <a:chOff x="0" y="0"/>
            <a:chExt cx="9235440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RAM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916668" y="5801868"/>
            <a:ext cx="6926580" cy="617220"/>
            <a:chOff x="0" y="0"/>
            <a:chExt cx="9235440" cy="8229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923544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GB minimum</a:t>
              </a:r>
            </a:p>
          </p:txBody>
        </p:sp>
      </p:grpSp>
      <p:sp>
        <p:nvSpPr>
          <p:cNvPr name="AutoShape 81" id="81"/>
          <p:cNvSpPr/>
          <p:nvPr/>
        </p:nvSpPr>
        <p:spPr>
          <a:xfrm rot="7080">
            <a:off x="9909515" y="6386894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2" id="82"/>
          <p:cNvGrpSpPr/>
          <p:nvPr/>
        </p:nvGrpSpPr>
        <p:grpSpPr>
          <a:xfrm rot="0">
            <a:off x="9916668" y="6501384"/>
            <a:ext cx="6926580" cy="384048"/>
            <a:chOff x="0" y="0"/>
            <a:chExt cx="9235440" cy="5120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916668" y="6871716"/>
            <a:ext cx="6926580" cy="617220"/>
            <a:chOff x="0" y="0"/>
            <a:chExt cx="9235440" cy="8229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923544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Sufficient space for project files and document collection</a:t>
              </a:r>
            </a:p>
          </p:txBody>
        </p:sp>
      </p:grpSp>
      <p:sp>
        <p:nvSpPr>
          <p:cNvPr name="AutoShape 88" id="88"/>
          <p:cNvSpPr/>
          <p:nvPr/>
        </p:nvSpPr>
        <p:spPr>
          <a:xfrm rot="7080">
            <a:off x="9909515" y="7456742"/>
            <a:ext cx="6940887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9916668" y="7571232"/>
            <a:ext cx="6926580" cy="384048"/>
            <a:chOff x="0" y="0"/>
            <a:chExt cx="9235440" cy="5120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235440" cy="512064"/>
            </a:xfrm>
            <a:custGeom>
              <a:avLst/>
              <a:gdLst/>
              <a:ahLst/>
              <a:cxnLst/>
              <a:rect r="r" b="b" t="t" l="l"/>
              <a:pathLst>
                <a:path h="512064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1426" r="0" b="-30142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923544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Peripherals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916668" y="7941564"/>
            <a:ext cx="6926580" cy="617220"/>
            <a:chOff x="0" y="0"/>
            <a:chExt cx="9235440" cy="822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235440" cy="822960"/>
            </a:xfrm>
            <a:custGeom>
              <a:avLst/>
              <a:gdLst/>
              <a:ahLst/>
              <a:cxnLst/>
              <a:rect r="r" b="b" t="t" l="l"/>
              <a:pathLst>
                <a:path h="8229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665" r="0" b="-16866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923544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keyboard, mouse and display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13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LITERATURE SURVEY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3030200" cy="1097280"/>
            <a:chOff x="0" y="0"/>
            <a:chExt cx="173736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7373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Literature Survey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120" y="2743200"/>
            <a:ext cx="4183380" cy="480060"/>
            <a:chOff x="0" y="0"/>
            <a:chExt cx="55778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77840" cy="640080"/>
            </a:xfrm>
            <a:custGeom>
              <a:avLst/>
              <a:gdLst/>
              <a:ahLst/>
              <a:cxnLst/>
              <a:rect r="r" b="b" t="t" l="l"/>
              <a:pathLst>
                <a:path h="64008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798" r="0" b="-1197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5778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8B96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APPROACH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80660" y="2743200"/>
            <a:ext cx="3566160" cy="480060"/>
            <a:chOff x="0" y="0"/>
            <a:chExt cx="475488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7548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8B96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TECHNIQUE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83980" y="2743200"/>
            <a:ext cx="3977640" cy="480060"/>
            <a:chOff x="0" y="0"/>
            <a:chExt cx="530352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3035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8B96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98780" y="2743200"/>
            <a:ext cx="4087368" cy="480060"/>
            <a:chOff x="0" y="0"/>
            <a:chExt cx="5449824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49824" cy="640080"/>
            </a:xfrm>
            <a:custGeom>
              <a:avLst/>
              <a:gdLst/>
              <a:ahLst/>
              <a:cxnLst/>
              <a:rect r="r" b="b" t="t" l="l"/>
              <a:pathLst>
                <a:path h="640080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901" r="0" b="-11590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449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8B96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4020">
            <a:off x="950585" y="3287078"/>
            <a:ext cx="16382248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051560" y="3486150"/>
            <a:ext cx="379476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 b="true">
                <a:solidFill>
                  <a:srgbClr val="E7EC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Sequential Keyword Search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72100" y="3486150"/>
            <a:ext cx="317754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Direct document scanning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75420" y="3486150"/>
            <a:ext cx="358902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Simple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90220" y="3486150"/>
            <a:ext cx="3698748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Inefficient for large collections</a:t>
            </a:r>
          </a:p>
        </p:txBody>
      </p:sp>
      <p:sp>
        <p:nvSpPr>
          <p:cNvPr name="AutoShape 31" id="31"/>
          <p:cNvSpPr/>
          <p:nvPr/>
        </p:nvSpPr>
        <p:spPr>
          <a:xfrm rot="3000">
            <a:off x="952976" y="4507802"/>
            <a:ext cx="16377485" cy="0"/>
          </a:xfrm>
          <a:prstGeom prst="line">
            <a:avLst/>
          </a:prstGeom>
          <a:ln cap="rnd" w="9525">
            <a:solidFill>
              <a:srgbClr val="1A23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051560" y="4665726"/>
            <a:ext cx="379476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 b="true">
                <a:solidFill>
                  <a:srgbClr val="E7EC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Indexed Search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72100" y="4665726"/>
            <a:ext cx="317754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Inverted index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75420" y="4665726"/>
            <a:ext cx="358902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retrieval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90220" y="4665726"/>
            <a:ext cx="3698748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Requires index construction</a:t>
            </a:r>
          </a:p>
        </p:txBody>
      </p:sp>
      <p:sp>
        <p:nvSpPr>
          <p:cNvPr name="AutoShape 36" id="36"/>
          <p:cNvSpPr/>
          <p:nvPr/>
        </p:nvSpPr>
        <p:spPr>
          <a:xfrm rot="3000">
            <a:off x="952976" y="5687378"/>
            <a:ext cx="16377485" cy="0"/>
          </a:xfrm>
          <a:prstGeom prst="line">
            <a:avLst/>
          </a:prstGeom>
          <a:ln cap="rnd" w="9525">
            <a:solidFill>
              <a:srgbClr val="1A23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051560" y="5845302"/>
            <a:ext cx="379476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 b="true">
                <a:solidFill>
                  <a:srgbClr val="E7EC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Hash-Based Lookup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72100" y="5845302"/>
            <a:ext cx="317754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Hashing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75420" y="5845302"/>
            <a:ext cx="358902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Fast term lookup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90220" y="5845302"/>
            <a:ext cx="3698748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Mainly supports retrieval, not ranking</a:t>
            </a:r>
          </a:p>
        </p:txBody>
      </p:sp>
      <p:sp>
        <p:nvSpPr>
          <p:cNvPr name="AutoShape 41" id="41"/>
          <p:cNvSpPr/>
          <p:nvPr/>
        </p:nvSpPr>
        <p:spPr>
          <a:xfrm rot="3000">
            <a:off x="952976" y="6866954"/>
            <a:ext cx="16377485" cy="0"/>
          </a:xfrm>
          <a:prstGeom prst="line">
            <a:avLst/>
          </a:prstGeom>
          <a:ln cap="rnd" w="9525">
            <a:solidFill>
              <a:srgbClr val="1A23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051560" y="7024878"/>
            <a:ext cx="379476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 b="true">
                <a:solidFill>
                  <a:srgbClr val="E7EC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TF-IDF Based Retrieval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372100" y="7024878"/>
            <a:ext cx="317754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Term weighting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075420" y="7024878"/>
            <a:ext cx="358902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relevance ranking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90220" y="7024878"/>
            <a:ext cx="3698748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8B96AC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Requires scoring computation</a:t>
            </a:r>
          </a:p>
        </p:txBody>
      </p:sp>
      <p:sp>
        <p:nvSpPr>
          <p:cNvPr name="AutoShape 46" id="46"/>
          <p:cNvSpPr/>
          <p:nvPr/>
        </p:nvSpPr>
        <p:spPr>
          <a:xfrm rot="3000">
            <a:off x="952976" y="8046530"/>
            <a:ext cx="16377485" cy="0"/>
          </a:xfrm>
          <a:prstGeom prst="line">
            <a:avLst/>
          </a:prstGeom>
          <a:ln cap="rnd" w="9525">
            <a:solidFill>
              <a:srgbClr val="1A23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742474" y="8094250"/>
            <a:ext cx="16798480" cy="1203388"/>
            <a:chOff x="0" y="0"/>
            <a:chExt cx="22397974" cy="160451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397974" cy="1604518"/>
            </a:xfrm>
            <a:custGeom>
              <a:avLst/>
              <a:gdLst/>
              <a:ahLst/>
              <a:cxnLst/>
              <a:rect r="r" b="b" t="t" l="l"/>
              <a:pathLst>
                <a:path h="1604518" w="2239797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2248749" y="0"/>
                  </a:lnTo>
                  <a:cubicBezTo>
                    <a:pt x="22331172" y="0"/>
                    <a:pt x="22397974" y="66802"/>
                    <a:pt x="22397974" y="149225"/>
                  </a:cubicBezTo>
                  <a:lnTo>
                    <a:pt x="22397974" y="1455293"/>
                  </a:lnTo>
                  <a:cubicBezTo>
                    <a:pt x="22397974" y="1537716"/>
                    <a:pt x="22331172" y="1604518"/>
                    <a:pt x="22248749" y="1604518"/>
                  </a:cubicBezTo>
                  <a:lnTo>
                    <a:pt x="149225" y="1604518"/>
                  </a:lnTo>
                  <a:cubicBezTo>
                    <a:pt x="66802" y="1604518"/>
                    <a:pt x="0" y="1537716"/>
                    <a:pt x="0" y="1455293"/>
                  </a:cubicBezTo>
                  <a:close/>
                </a:path>
              </a:pathLst>
            </a:custGeom>
            <a:solidFill>
              <a:srgbClr val="16223A"/>
            </a:solidFill>
            <a:ln w="23812" cap="sq">
              <a:solidFill>
                <a:srgbClr val="4FD9FF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120140" y="8204454"/>
            <a:ext cx="379476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 b="true">
                <a:solidFill>
                  <a:srgbClr val="4FD9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Mini Search Engine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40680" y="8204454"/>
            <a:ext cx="317754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Inverted Index + Hashing + TF-IDF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44000" y="8204454"/>
            <a:ext cx="3589020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Combines fast lookup with relevance ranking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258800" y="8204454"/>
            <a:ext cx="3698748" cy="9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Integrated DSA-based retrieval system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13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DSA CONCEPTS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3030200" cy="1097280"/>
            <a:chOff x="0" y="0"/>
            <a:chExt cx="173736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7373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DSA Concepts Used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08266" y="2665095"/>
            <a:ext cx="4271010" cy="869442"/>
            <a:chOff x="0" y="0"/>
            <a:chExt cx="5694680" cy="11592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68275"/>
                  </a:moveTo>
                  <a:cubicBezTo>
                    <a:pt x="0" y="75311"/>
                    <a:pt x="75311" y="0"/>
                    <a:pt x="168275" y="0"/>
                  </a:cubicBezTo>
                  <a:lnTo>
                    <a:pt x="5526405" y="0"/>
                  </a:lnTo>
                  <a:cubicBezTo>
                    <a:pt x="5619369" y="0"/>
                    <a:pt x="5694680" y="75311"/>
                    <a:pt x="5694680" y="168275"/>
                  </a:cubicBezTo>
                  <a:lnTo>
                    <a:pt x="5694680" y="990981"/>
                  </a:lnTo>
                  <a:cubicBezTo>
                    <a:pt x="5694680" y="1083945"/>
                    <a:pt x="5619369" y="1159256"/>
                    <a:pt x="5526405" y="1159256"/>
                  </a:cubicBezTo>
                  <a:lnTo>
                    <a:pt x="168275" y="1159256"/>
                  </a:lnTo>
                  <a:cubicBezTo>
                    <a:pt x="75311" y="1159256"/>
                    <a:pt x="0" y="1083945"/>
                    <a:pt x="0" y="990981"/>
                  </a:cubicBezTo>
                  <a:close/>
                </a:path>
              </a:pathLst>
            </a:custGeom>
            <a:solidFill>
              <a:srgbClr val="16223A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17791" y="2674620"/>
            <a:ext cx="4251960" cy="850392"/>
            <a:chOff x="0" y="0"/>
            <a:chExt cx="5669280" cy="11338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66928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25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ENGINE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5212140">
            <a:off x="8925801" y="3725990"/>
            <a:ext cx="435940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7260">
            <a:off x="3485664" y="3931729"/>
            <a:ext cx="11312109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5177100">
            <a:off x="3313833" y="4103179"/>
            <a:ext cx="367484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5177100">
            <a:off x="8960034" y="4103179"/>
            <a:ext cx="367484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5177100">
            <a:off x="14602101" y="4103179"/>
            <a:ext cx="367484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53465" y="4269867"/>
            <a:ext cx="4888230" cy="1459230"/>
            <a:chOff x="0" y="0"/>
            <a:chExt cx="6517640" cy="1945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176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65176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350889" y="0"/>
                  </a:lnTo>
                  <a:cubicBezTo>
                    <a:pt x="6442964" y="0"/>
                    <a:pt x="6517640" y="74676"/>
                    <a:pt x="6517640" y="166751"/>
                  </a:cubicBezTo>
                  <a:lnTo>
                    <a:pt x="6517640" y="1778889"/>
                  </a:lnTo>
                  <a:cubicBezTo>
                    <a:pt x="6517640" y="1870964"/>
                    <a:pt x="6442964" y="1945640"/>
                    <a:pt x="635088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82649" y="4599051"/>
            <a:ext cx="814578" cy="814578"/>
            <a:chOff x="0" y="0"/>
            <a:chExt cx="1086104" cy="10861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99009" y="4815411"/>
            <a:ext cx="381857" cy="381857"/>
            <a:chOff x="0" y="0"/>
            <a:chExt cx="509143" cy="509143"/>
          </a:xfrm>
        </p:grpSpPr>
        <p:sp>
          <p:nvSpPr>
            <p:cNvPr name="Freeform 29" id="29" descr="/home/claude/proj/icons/layers_cyan.png"/>
            <p:cNvSpPr/>
            <p:nvPr/>
          </p:nvSpPr>
          <p:spPr>
            <a:xfrm flipH="false" flipV="false" rot="0">
              <a:off x="0" y="0"/>
              <a:ext cx="509143" cy="509143"/>
            </a:xfrm>
            <a:custGeom>
              <a:avLst/>
              <a:gdLst/>
              <a:ahLst/>
              <a:cxnLst/>
              <a:rect r="r" b="b" t="t" l="l"/>
              <a:pathLst>
                <a:path h="509143" w="509143">
                  <a:moveTo>
                    <a:pt x="0" y="0"/>
                  </a:moveTo>
                  <a:lnTo>
                    <a:pt x="509143" y="0"/>
                  </a:lnTo>
                  <a:lnTo>
                    <a:pt x="509143" y="509143"/>
                  </a:lnTo>
                  <a:lnTo>
                    <a:pt x="0" y="509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407158" y="4485132"/>
            <a:ext cx="3223260" cy="548640"/>
            <a:chOff x="0" y="0"/>
            <a:chExt cx="42976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29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INVERTED INDEX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407158" y="5033772"/>
            <a:ext cx="3223260" cy="480060"/>
            <a:chOff x="0" y="0"/>
            <a:chExt cx="429768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97680" cy="640080"/>
            </a:xfrm>
            <a:custGeom>
              <a:avLst/>
              <a:gdLst/>
              <a:ahLst/>
              <a:cxnLst/>
              <a:rect r="r" b="b" t="t" l="l"/>
              <a:pathLst>
                <a:path h="640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297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74">
                  <a:solidFill>
                    <a:srgbClr val="4FD9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 Mapping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2990" y="6405372"/>
            <a:ext cx="4869180" cy="466344"/>
            <a:chOff x="0" y="0"/>
            <a:chExt cx="6492240" cy="6217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92240" cy="621792"/>
            </a:xfrm>
            <a:custGeom>
              <a:avLst/>
              <a:gdLst/>
              <a:ahLst/>
              <a:cxnLst/>
              <a:rect r="r" b="b" t="t" l="l"/>
              <a:pathLst>
                <a:path h="6217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46" r="0" b="-15344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49224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187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INVERTED INDEX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62990" y="6981444"/>
            <a:ext cx="4869180" cy="1303020"/>
            <a:chOff x="0" y="0"/>
            <a:chExt cx="6492240" cy="1737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92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12" r="0" b="-2281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6492240" cy="185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0"/>
                </a:lnSpc>
              </a:pPr>
              <a:r>
                <a:rPr lang="en-US" sz="202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Maps terms to the documents where they occur.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99656" y="4269867"/>
            <a:ext cx="4888230" cy="1459230"/>
            <a:chOff x="0" y="0"/>
            <a:chExt cx="6517640" cy="1945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176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65176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350889" y="0"/>
                  </a:lnTo>
                  <a:cubicBezTo>
                    <a:pt x="6442964" y="0"/>
                    <a:pt x="6517640" y="74676"/>
                    <a:pt x="6517640" y="166751"/>
                  </a:cubicBezTo>
                  <a:lnTo>
                    <a:pt x="6517640" y="1778889"/>
                  </a:lnTo>
                  <a:cubicBezTo>
                    <a:pt x="6517640" y="1870964"/>
                    <a:pt x="6442964" y="1945640"/>
                    <a:pt x="635088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028840" y="4599051"/>
            <a:ext cx="814578" cy="814578"/>
            <a:chOff x="0" y="0"/>
            <a:chExt cx="1086104" cy="10861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245201" y="4815411"/>
            <a:ext cx="381857" cy="381857"/>
            <a:chOff x="0" y="0"/>
            <a:chExt cx="509143" cy="509143"/>
          </a:xfrm>
        </p:grpSpPr>
        <p:sp>
          <p:nvSpPr>
            <p:cNvPr name="Freeform 47" id="47" descr="/home/claude/proj/icons/hash_cyan.png"/>
            <p:cNvSpPr/>
            <p:nvPr/>
          </p:nvSpPr>
          <p:spPr>
            <a:xfrm flipH="false" flipV="false" rot="0">
              <a:off x="0" y="0"/>
              <a:ext cx="509143" cy="509143"/>
            </a:xfrm>
            <a:custGeom>
              <a:avLst/>
              <a:gdLst/>
              <a:ahLst/>
              <a:cxnLst/>
              <a:rect r="r" b="b" t="t" l="l"/>
              <a:pathLst>
                <a:path h="509143" w="509143">
                  <a:moveTo>
                    <a:pt x="0" y="0"/>
                  </a:moveTo>
                  <a:lnTo>
                    <a:pt x="509143" y="0"/>
                  </a:lnTo>
                  <a:lnTo>
                    <a:pt x="509143" y="509143"/>
                  </a:lnTo>
                  <a:lnTo>
                    <a:pt x="0" y="509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53349" y="4485132"/>
            <a:ext cx="3223260" cy="548640"/>
            <a:chOff x="0" y="0"/>
            <a:chExt cx="42976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29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HASHING LOOKUP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053349" y="5033772"/>
            <a:ext cx="3223260" cy="480060"/>
            <a:chOff x="0" y="0"/>
            <a:chExt cx="429768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97680" cy="640080"/>
            </a:xfrm>
            <a:custGeom>
              <a:avLst/>
              <a:gdLst/>
              <a:ahLst/>
              <a:cxnLst/>
              <a:rect r="r" b="b" t="t" l="l"/>
              <a:pathLst>
                <a:path h="640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297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74">
                  <a:solidFill>
                    <a:srgbClr val="4FD9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 Term Access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09181" y="6405372"/>
            <a:ext cx="4869180" cy="466344"/>
            <a:chOff x="0" y="0"/>
            <a:chExt cx="649224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92240" cy="621792"/>
            </a:xfrm>
            <a:custGeom>
              <a:avLst/>
              <a:gdLst/>
              <a:ahLst/>
              <a:cxnLst/>
              <a:rect r="r" b="b" t="t" l="l"/>
              <a:pathLst>
                <a:path h="6217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46" r="0" b="-15344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49224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187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HASHING LOOKUP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709181" y="6981444"/>
            <a:ext cx="4869180" cy="1303020"/>
            <a:chOff x="0" y="0"/>
            <a:chExt cx="6492240" cy="1737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92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12" r="0" b="-2281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6492240" cy="185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0"/>
                </a:lnSpc>
              </a:pPr>
              <a:r>
                <a:rPr lang="en-US" sz="202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efficient lookup of indexed terms.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41733" y="4269867"/>
            <a:ext cx="4888230" cy="1459230"/>
            <a:chOff x="0" y="0"/>
            <a:chExt cx="6517640" cy="1945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176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651764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350889" y="0"/>
                  </a:lnTo>
                  <a:cubicBezTo>
                    <a:pt x="6442964" y="0"/>
                    <a:pt x="6517640" y="74676"/>
                    <a:pt x="6517640" y="166751"/>
                  </a:cubicBezTo>
                  <a:lnTo>
                    <a:pt x="6517640" y="1778889"/>
                  </a:lnTo>
                  <a:cubicBezTo>
                    <a:pt x="6517640" y="1870964"/>
                    <a:pt x="6442964" y="1945640"/>
                    <a:pt x="6350889" y="1945640"/>
                  </a:cubicBezTo>
                  <a:lnTo>
                    <a:pt x="166751" y="1945640"/>
                  </a:lnTo>
                  <a:cubicBezTo>
                    <a:pt x="74676" y="1945640"/>
                    <a:pt x="0" y="1870964"/>
                    <a:pt x="0" y="1778889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670917" y="4599051"/>
            <a:ext cx="814578" cy="814578"/>
            <a:chOff x="0" y="0"/>
            <a:chExt cx="1086104" cy="10861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887277" y="4815411"/>
            <a:ext cx="381857" cy="381857"/>
            <a:chOff x="0" y="0"/>
            <a:chExt cx="509143" cy="509143"/>
          </a:xfrm>
        </p:grpSpPr>
        <p:sp>
          <p:nvSpPr>
            <p:cNvPr name="Freeform 65" id="65" descr="/home/claude/proj/icons/bar-chart_cyan.png"/>
            <p:cNvSpPr/>
            <p:nvPr/>
          </p:nvSpPr>
          <p:spPr>
            <a:xfrm flipH="false" flipV="false" rot="0">
              <a:off x="0" y="0"/>
              <a:ext cx="509143" cy="509143"/>
            </a:xfrm>
            <a:custGeom>
              <a:avLst/>
              <a:gdLst/>
              <a:ahLst/>
              <a:cxnLst/>
              <a:rect r="r" b="b" t="t" l="l"/>
              <a:pathLst>
                <a:path h="509143" w="509143">
                  <a:moveTo>
                    <a:pt x="0" y="0"/>
                  </a:moveTo>
                  <a:lnTo>
                    <a:pt x="509143" y="0"/>
                  </a:lnTo>
                  <a:lnTo>
                    <a:pt x="509143" y="509143"/>
                  </a:lnTo>
                  <a:lnTo>
                    <a:pt x="0" y="509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695426" y="4485132"/>
            <a:ext cx="3223260" cy="548640"/>
            <a:chOff x="0" y="0"/>
            <a:chExt cx="429768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9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297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 RANKING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695426" y="5033772"/>
            <a:ext cx="3223260" cy="480060"/>
            <a:chOff x="0" y="0"/>
            <a:chExt cx="429768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97680" cy="640080"/>
            </a:xfrm>
            <a:custGeom>
              <a:avLst/>
              <a:gdLst/>
              <a:ahLst/>
              <a:cxnLst/>
              <a:rect r="r" b="b" t="t" l="l"/>
              <a:pathLst>
                <a:path h="640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2976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74">
                  <a:solidFill>
                    <a:srgbClr val="4FD9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Relevance Scoring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351258" y="6405372"/>
            <a:ext cx="4869180" cy="466344"/>
            <a:chOff x="0" y="0"/>
            <a:chExt cx="6492240" cy="621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92240" cy="621792"/>
            </a:xfrm>
            <a:custGeom>
              <a:avLst/>
              <a:gdLst/>
              <a:ahLst/>
              <a:cxnLst/>
              <a:rect r="r" b="b" t="t" l="l"/>
              <a:pathLst>
                <a:path h="6217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46" r="0" b="-15344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49224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187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 RANKING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351258" y="6981444"/>
            <a:ext cx="4869180" cy="1303020"/>
            <a:chOff x="0" y="0"/>
            <a:chExt cx="6492240" cy="1737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492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12" r="0" b="-2281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14300"/>
              <a:ext cx="6492240" cy="185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0"/>
                </a:lnSpc>
              </a:pPr>
              <a:r>
                <a:rPr lang="en-US" sz="202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Measures the importance of terms and supports relevance ranking.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13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METHODOLOGY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5773400" cy="1097280"/>
            <a:chOff x="0" y="0"/>
            <a:chExt cx="210312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Methodology / System Workflow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4500">
            <a:off x="1859880" y="3986594"/>
            <a:ext cx="14567773" cy="0"/>
          </a:xfrm>
          <a:prstGeom prst="line">
            <a:avLst/>
          </a:prstGeom>
          <a:ln cap="rnd" w="9525">
            <a:solidFill>
              <a:srgbClr val="2E3A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366114" y="3488055"/>
            <a:ext cx="1006602" cy="1006602"/>
            <a:chOff x="0" y="0"/>
            <a:chExt cx="1342136" cy="1342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49959" y="3717036"/>
            <a:ext cx="438912" cy="438912"/>
            <a:chOff x="0" y="0"/>
            <a:chExt cx="585216" cy="585216"/>
          </a:xfrm>
        </p:grpSpPr>
        <p:sp>
          <p:nvSpPr>
            <p:cNvPr name="Freeform 18" id="18" descr="/home/claude/proj/icons/file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89355" y="2921508"/>
            <a:ext cx="960120" cy="438912"/>
            <a:chOff x="0" y="0"/>
            <a:chExt cx="1280160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023" y="4677156"/>
            <a:ext cx="1700784" cy="850392"/>
            <a:chOff x="0" y="0"/>
            <a:chExt cx="2267712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 COLLECTION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184703" y="3488055"/>
            <a:ext cx="1006602" cy="1006602"/>
            <a:chOff x="0" y="0"/>
            <a:chExt cx="1342136" cy="13421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468548" y="3717036"/>
            <a:ext cx="438912" cy="438912"/>
            <a:chOff x="0" y="0"/>
            <a:chExt cx="585216" cy="585216"/>
          </a:xfrm>
        </p:grpSpPr>
        <p:sp>
          <p:nvSpPr>
            <p:cNvPr name="Freeform 28" id="28" descr="/home/claude/proj/icons/book-open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207944" y="2921508"/>
            <a:ext cx="960120" cy="438912"/>
            <a:chOff x="0" y="0"/>
            <a:chExt cx="128016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37612" y="4677156"/>
            <a:ext cx="1700784" cy="850392"/>
            <a:chOff x="0" y="0"/>
            <a:chExt cx="2267712" cy="1133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03292" y="3488055"/>
            <a:ext cx="1006602" cy="1006602"/>
            <a:chOff x="0" y="0"/>
            <a:chExt cx="1342136" cy="13421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7137" y="3717036"/>
            <a:ext cx="438912" cy="438912"/>
            <a:chOff x="0" y="0"/>
            <a:chExt cx="585216" cy="585216"/>
          </a:xfrm>
        </p:grpSpPr>
        <p:sp>
          <p:nvSpPr>
            <p:cNvPr name="Freeform 38" id="38" descr="/home/claude/proj/icons/type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026533" y="2921508"/>
            <a:ext cx="960120" cy="438912"/>
            <a:chOff x="0" y="0"/>
            <a:chExt cx="128016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656201" y="4677156"/>
            <a:ext cx="1700784" cy="850392"/>
            <a:chOff x="0" y="0"/>
            <a:chExt cx="2267712" cy="1133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TOKENIZATION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21881" y="3488055"/>
            <a:ext cx="1006602" cy="1006602"/>
            <a:chOff x="0" y="0"/>
            <a:chExt cx="1342136" cy="13421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105726" y="3717036"/>
            <a:ext cx="438912" cy="438912"/>
            <a:chOff x="0" y="0"/>
            <a:chExt cx="585216" cy="585216"/>
          </a:xfrm>
        </p:grpSpPr>
        <p:sp>
          <p:nvSpPr>
            <p:cNvPr name="Freeform 48" id="48" descr="/home/claude/proj/icons/layers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845122" y="2921508"/>
            <a:ext cx="960120" cy="438912"/>
            <a:chOff x="0" y="0"/>
            <a:chExt cx="128016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474790" y="4677156"/>
            <a:ext cx="1700784" cy="850392"/>
            <a:chOff x="0" y="0"/>
            <a:chExt cx="2267712" cy="1133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INVERTED INDEX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640470" y="3488055"/>
            <a:ext cx="1006602" cy="1006602"/>
            <a:chOff x="0" y="0"/>
            <a:chExt cx="1342136" cy="13421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8924315" y="3717036"/>
            <a:ext cx="438912" cy="438912"/>
            <a:chOff x="0" y="0"/>
            <a:chExt cx="585216" cy="585216"/>
          </a:xfrm>
        </p:grpSpPr>
        <p:sp>
          <p:nvSpPr>
            <p:cNvPr name="Freeform 58" id="58" descr="/home/claude/proj/icons/search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663711" y="2921508"/>
            <a:ext cx="960120" cy="438912"/>
            <a:chOff x="0" y="0"/>
            <a:chExt cx="128016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93379" y="4677156"/>
            <a:ext cx="1700784" cy="850392"/>
            <a:chOff x="0" y="0"/>
            <a:chExt cx="2267712" cy="11338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PROCESSING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459060" y="3488055"/>
            <a:ext cx="1006602" cy="1006602"/>
            <a:chOff x="0" y="0"/>
            <a:chExt cx="1342136" cy="13421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742905" y="3717036"/>
            <a:ext cx="438912" cy="438912"/>
            <a:chOff x="0" y="0"/>
            <a:chExt cx="585216" cy="585216"/>
          </a:xfrm>
        </p:grpSpPr>
        <p:sp>
          <p:nvSpPr>
            <p:cNvPr name="Freeform 68" id="68" descr="/home/claude/proj/icons/link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482301" y="2921508"/>
            <a:ext cx="960120" cy="438912"/>
            <a:chOff x="0" y="0"/>
            <a:chExt cx="1280160" cy="5852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11969" y="4677156"/>
            <a:ext cx="1700784" cy="850392"/>
            <a:chOff x="0" y="0"/>
            <a:chExt cx="2267712" cy="11338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 MATCHING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77649" y="3488055"/>
            <a:ext cx="1006602" cy="1006602"/>
            <a:chOff x="0" y="0"/>
            <a:chExt cx="1342136" cy="13421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561494" y="3717036"/>
            <a:ext cx="438912" cy="438912"/>
            <a:chOff x="0" y="0"/>
            <a:chExt cx="585216" cy="585216"/>
          </a:xfrm>
        </p:grpSpPr>
        <p:sp>
          <p:nvSpPr>
            <p:cNvPr name="Freeform 78" id="78" descr="/home/claude/proj/icons/hash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300890" y="2921508"/>
            <a:ext cx="960120" cy="438912"/>
            <a:chOff x="0" y="0"/>
            <a:chExt cx="1280160" cy="5852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930558" y="4677156"/>
            <a:ext cx="1700784" cy="850392"/>
            <a:chOff x="0" y="0"/>
            <a:chExt cx="2267712" cy="11338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 SCORING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096238" y="3488055"/>
            <a:ext cx="1006602" cy="1006602"/>
            <a:chOff x="0" y="0"/>
            <a:chExt cx="1342136" cy="134213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4380083" y="3717036"/>
            <a:ext cx="438912" cy="438912"/>
            <a:chOff x="0" y="0"/>
            <a:chExt cx="585216" cy="585216"/>
          </a:xfrm>
        </p:grpSpPr>
        <p:sp>
          <p:nvSpPr>
            <p:cNvPr name="Freeform 88" id="88" descr="/home/claude/proj/icons/bar-chart_cya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119479" y="2921508"/>
            <a:ext cx="960120" cy="438912"/>
            <a:chOff x="0" y="0"/>
            <a:chExt cx="1280160" cy="5852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749147" y="4677156"/>
            <a:ext cx="1700784" cy="850392"/>
            <a:chOff x="0" y="0"/>
            <a:chExt cx="2267712" cy="11338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914827" y="3488055"/>
            <a:ext cx="1006602" cy="1006602"/>
            <a:chOff x="0" y="0"/>
            <a:chExt cx="1342136" cy="13421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4FD9FF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6198672" y="3717036"/>
            <a:ext cx="438912" cy="438912"/>
            <a:chOff x="0" y="0"/>
            <a:chExt cx="585216" cy="585216"/>
          </a:xfrm>
        </p:grpSpPr>
        <p:sp>
          <p:nvSpPr>
            <p:cNvPr name="Freeform 98" id="98" descr="/home/claude/proj/icons/list_nav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938068" y="2921508"/>
            <a:ext cx="960120" cy="438912"/>
            <a:chOff x="0" y="0"/>
            <a:chExt cx="1280160" cy="58521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80160" cy="585216"/>
            </a:xfrm>
            <a:custGeom>
              <a:avLst/>
              <a:gdLst/>
              <a:ahLst/>
              <a:cxnLst/>
              <a:rect r="r" b="b" t="t" l="l"/>
              <a:pathLst>
                <a:path h="58521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1280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150">
                  <a:solidFill>
                    <a:srgbClr val="5E6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567736" y="4677156"/>
            <a:ext cx="1700784" cy="850392"/>
            <a:chOff x="0" y="0"/>
            <a:chExt cx="2267712" cy="11338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6771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267712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00" b="true">
                  <a:solidFill>
                    <a:srgbClr val="E7EC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RESULTS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910715" y="7259955"/>
            <a:ext cx="14466113" cy="1596390"/>
            <a:chOff x="0" y="0"/>
            <a:chExt cx="19288150" cy="21285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288252" cy="2128520"/>
            </a:xfrm>
            <a:custGeom>
              <a:avLst/>
              <a:gdLst/>
              <a:ahLst/>
              <a:cxnLst/>
              <a:rect r="r" b="b" t="t" l="l"/>
              <a:pathLst>
                <a:path h="2128520" w="19288252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19121628" y="0"/>
                  </a:lnTo>
                  <a:cubicBezTo>
                    <a:pt x="19213576" y="0"/>
                    <a:pt x="19288252" y="74549"/>
                    <a:pt x="19288252" y="166624"/>
                  </a:cubicBezTo>
                  <a:lnTo>
                    <a:pt x="19288252" y="1961896"/>
                  </a:lnTo>
                  <a:cubicBezTo>
                    <a:pt x="19288252" y="2053844"/>
                    <a:pt x="19213703" y="2128520"/>
                    <a:pt x="19121628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6223A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2400300" y="7269480"/>
            <a:ext cx="13486943" cy="1577340"/>
            <a:chOff x="0" y="0"/>
            <a:chExt cx="17982590" cy="21031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982591" cy="2103120"/>
            </a:xfrm>
            <a:custGeom>
              <a:avLst/>
              <a:gdLst/>
              <a:ahLst/>
              <a:cxnLst/>
              <a:rect r="r" b="b" t="t" l="l"/>
              <a:pathLst>
                <a:path h="2103120" w="17982591">
                  <a:moveTo>
                    <a:pt x="0" y="0"/>
                  </a:moveTo>
                  <a:lnTo>
                    <a:pt x="17982591" y="0"/>
                  </a:lnTo>
                  <a:lnTo>
                    <a:pt x="17982591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605" r="0" b="-11660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17982590" cy="2179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5"/>
                </a:lnSpc>
              </a:pPr>
              <a:r>
                <a:rPr lang="en-US" sz="2250" i="true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The system transforms raw documents into an efficient searchable index and ranks retrieved documents according to query relevance.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13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WALKTHROUGH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3030200" cy="1097280"/>
            <a:chOff x="0" y="0"/>
            <a:chExt cx="173736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7373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the Search Works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2665095"/>
            <a:ext cx="8522970" cy="814578"/>
            <a:chOff x="0" y="0"/>
            <a:chExt cx="11363960" cy="10861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63960" cy="1086104"/>
            </a:xfrm>
            <a:custGeom>
              <a:avLst/>
              <a:gdLst/>
              <a:ahLst/>
              <a:cxnLst/>
              <a:rect r="r" b="b" t="t" l="l"/>
              <a:pathLst>
                <a:path h="1086104" w="11363960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lnTo>
                    <a:pt x="10820908" y="0"/>
                  </a:lnTo>
                  <a:cubicBezTo>
                    <a:pt x="11120882" y="0"/>
                    <a:pt x="11363960" y="243078"/>
                    <a:pt x="11363960" y="543052"/>
                  </a:cubicBezTo>
                  <a:cubicBezTo>
                    <a:pt x="11363960" y="843026"/>
                    <a:pt x="11120882" y="1086104"/>
                    <a:pt x="10820908" y="1086104"/>
                  </a:cubicBezTo>
                  <a:lnTo>
                    <a:pt x="543052" y="1086104"/>
                  </a:ln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0F1729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34440" y="2866644"/>
            <a:ext cx="411480" cy="411480"/>
            <a:chOff x="0" y="0"/>
            <a:chExt cx="548640" cy="548640"/>
          </a:xfrm>
        </p:grpSpPr>
        <p:sp>
          <p:nvSpPr>
            <p:cNvPr name="Freeform 17" id="17" descr="/home/claude/proj/icons/search_cyan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10512" y="2674620"/>
            <a:ext cx="7406640" cy="795528"/>
            <a:chOff x="0" y="0"/>
            <a:chExt cx="9875520" cy="10607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412" r="0" b="-13141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875520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E7EC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 structures algorithms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595" y="3968115"/>
            <a:ext cx="375666" cy="375666"/>
            <a:chOff x="0" y="0"/>
            <a:chExt cx="500888" cy="5008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cubicBezTo>
                    <a:pt x="500888" y="388747"/>
                    <a:pt x="388747" y="500888"/>
                    <a:pt x="250444" y="500888"/>
                  </a:cubicBezTo>
                  <a:cubicBezTo>
                    <a:pt x="112141" y="500888"/>
                    <a:pt x="0" y="388747"/>
                    <a:pt x="0" y="25044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0120" y="3977640"/>
            <a:ext cx="356616" cy="356616"/>
            <a:chOff x="0" y="0"/>
            <a:chExt cx="475488" cy="4754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75488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08760" y="3895344"/>
            <a:ext cx="4114800" cy="521208"/>
            <a:chOff x="0" y="0"/>
            <a:chExt cx="5486400" cy="6949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694944"/>
            </a:xfrm>
            <a:custGeom>
              <a:avLst/>
              <a:gdLst/>
              <a:ahLst/>
              <a:cxnLst/>
              <a:rect r="r" b="b" t="t" l="l"/>
              <a:pathLst>
                <a:path h="69494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4864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5154180">
            <a:off x="1005116" y="4452938"/>
            <a:ext cx="266624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50595" y="4818507"/>
            <a:ext cx="375666" cy="375666"/>
            <a:chOff x="0" y="0"/>
            <a:chExt cx="500888" cy="5008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cubicBezTo>
                    <a:pt x="500888" y="388747"/>
                    <a:pt x="388747" y="500888"/>
                    <a:pt x="250444" y="500888"/>
                  </a:cubicBezTo>
                  <a:cubicBezTo>
                    <a:pt x="112141" y="500888"/>
                    <a:pt x="0" y="388747"/>
                    <a:pt x="0" y="25044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60120" y="4828032"/>
            <a:ext cx="356616" cy="356616"/>
            <a:chOff x="0" y="0"/>
            <a:chExt cx="475488" cy="4754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75488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8760" y="4745736"/>
            <a:ext cx="4114800" cy="521208"/>
            <a:chOff x="0" y="0"/>
            <a:chExt cx="5486400" cy="6949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694944"/>
            </a:xfrm>
            <a:custGeom>
              <a:avLst/>
              <a:gdLst/>
              <a:ahLst/>
              <a:cxnLst/>
              <a:rect r="r" b="b" t="t" l="l"/>
              <a:pathLst>
                <a:path h="69494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Tokenization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5154180">
            <a:off x="1005116" y="5303330"/>
            <a:ext cx="266624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950595" y="5668899"/>
            <a:ext cx="375666" cy="375666"/>
            <a:chOff x="0" y="0"/>
            <a:chExt cx="500888" cy="5008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cubicBezTo>
                    <a:pt x="500888" y="388747"/>
                    <a:pt x="388747" y="500888"/>
                    <a:pt x="250444" y="500888"/>
                  </a:cubicBezTo>
                  <a:cubicBezTo>
                    <a:pt x="112141" y="500888"/>
                    <a:pt x="0" y="388747"/>
                    <a:pt x="0" y="25044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60120" y="5678424"/>
            <a:ext cx="356616" cy="356616"/>
            <a:chOff x="0" y="0"/>
            <a:chExt cx="475488" cy="4754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75488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08760" y="5596128"/>
            <a:ext cx="4114800" cy="521208"/>
            <a:chOff x="0" y="0"/>
            <a:chExt cx="5486400" cy="6949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0" cy="694944"/>
            </a:xfrm>
            <a:custGeom>
              <a:avLst/>
              <a:gdLst/>
              <a:ahLst/>
              <a:cxnLst/>
              <a:rect r="r" b="b" t="t" l="l"/>
              <a:pathLst>
                <a:path h="69494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4864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Indexed Term Lookup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5154180">
            <a:off x="1005116" y="6153721"/>
            <a:ext cx="266624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950595" y="6519291"/>
            <a:ext cx="375666" cy="375666"/>
            <a:chOff x="0" y="0"/>
            <a:chExt cx="500888" cy="5008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cubicBezTo>
                    <a:pt x="500888" y="388747"/>
                    <a:pt x="388747" y="500888"/>
                    <a:pt x="250444" y="500888"/>
                  </a:cubicBezTo>
                  <a:cubicBezTo>
                    <a:pt x="112141" y="500888"/>
                    <a:pt x="0" y="388747"/>
                    <a:pt x="0" y="25044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" y="6528816"/>
            <a:ext cx="356616" cy="356616"/>
            <a:chOff x="0" y="0"/>
            <a:chExt cx="475488" cy="4754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75488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08760" y="6446520"/>
            <a:ext cx="4114800" cy="521208"/>
            <a:chOff x="0" y="0"/>
            <a:chExt cx="5486400" cy="6949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694944"/>
            </a:xfrm>
            <a:custGeom>
              <a:avLst/>
              <a:gdLst/>
              <a:ahLst/>
              <a:cxnLst/>
              <a:rect r="r" b="b" t="t" l="l"/>
              <a:pathLst>
                <a:path h="69494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4864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Candidate Documents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5154180">
            <a:off x="1005116" y="7004114"/>
            <a:ext cx="266624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950595" y="7369683"/>
            <a:ext cx="375666" cy="375666"/>
            <a:chOff x="0" y="0"/>
            <a:chExt cx="500888" cy="5008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cubicBezTo>
                    <a:pt x="500888" y="388747"/>
                    <a:pt x="388747" y="500888"/>
                    <a:pt x="250444" y="500888"/>
                  </a:cubicBezTo>
                  <a:cubicBezTo>
                    <a:pt x="112141" y="500888"/>
                    <a:pt x="0" y="388747"/>
                    <a:pt x="0" y="25044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" y="7379208"/>
            <a:ext cx="356616" cy="356616"/>
            <a:chOff x="0" y="0"/>
            <a:chExt cx="475488" cy="4754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75488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08760" y="7296912"/>
            <a:ext cx="4114800" cy="521208"/>
            <a:chOff x="0" y="0"/>
            <a:chExt cx="5486400" cy="69494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86400" cy="694944"/>
            </a:xfrm>
            <a:custGeom>
              <a:avLst/>
              <a:gdLst/>
              <a:ahLst/>
              <a:cxnLst/>
              <a:rect r="r" b="b" t="t" l="l"/>
              <a:pathLst>
                <a:path h="69494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4864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TF-IDF Score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5154180">
            <a:off x="1005116" y="7854506"/>
            <a:ext cx="266624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950595" y="8220075"/>
            <a:ext cx="375666" cy="375666"/>
            <a:chOff x="0" y="0"/>
            <a:chExt cx="500888" cy="5008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0888" cy="500888"/>
            </a:xfrm>
            <a:custGeom>
              <a:avLst/>
              <a:gdLst/>
              <a:ahLst/>
              <a:cxnLst/>
              <a:rect r="r" b="b" t="t" l="l"/>
              <a:pathLst>
                <a:path h="500888" w="50088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cubicBezTo>
                    <a:pt x="388747" y="0"/>
                    <a:pt x="500888" y="112141"/>
                    <a:pt x="500888" y="250444"/>
                  </a:cubicBezTo>
                  <a:cubicBezTo>
                    <a:pt x="500888" y="388747"/>
                    <a:pt x="388747" y="500888"/>
                    <a:pt x="250444" y="500888"/>
                  </a:cubicBezTo>
                  <a:cubicBezTo>
                    <a:pt x="112141" y="500888"/>
                    <a:pt x="0" y="388747"/>
                    <a:pt x="0" y="250444"/>
                  </a:cubicBezTo>
                  <a:close/>
                </a:path>
              </a:pathLst>
            </a:custGeom>
            <a:solidFill>
              <a:srgbClr val="121A2B"/>
            </a:solidFill>
            <a:ln w="19050" cap="sq">
              <a:solidFill>
                <a:srgbClr val="2A93B8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60120" y="8229600"/>
            <a:ext cx="356616" cy="356616"/>
            <a:chOff x="0" y="0"/>
            <a:chExt cx="475488" cy="475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75488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08760" y="8147304"/>
            <a:ext cx="4114800" cy="521208"/>
            <a:chOff x="0" y="0"/>
            <a:chExt cx="5486400" cy="6949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86400" cy="694944"/>
            </a:xfrm>
            <a:custGeom>
              <a:avLst/>
              <a:gdLst/>
              <a:ahLst/>
              <a:cxnLst/>
              <a:rect r="r" b="b" t="t" l="l"/>
              <a:pathLst>
                <a:path h="69494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4864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Ranking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081260" y="2674620"/>
            <a:ext cx="7242048" cy="438912"/>
            <a:chOff x="0" y="0"/>
            <a:chExt cx="9656064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656064" cy="585216"/>
            </a:xfrm>
            <a:custGeom>
              <a:avLst/>
              <a:gdLst/>
              <a:ahLst/>
              <a:cxnLst/>
              <a:rect r="r" b="b" t="t" l="l"/>
              <a:pathLst>
                <a:path h="585216" w="9656064">
                  <a:moveTo>
                    <a:pt x="0" y="0"/>
                  </a:moveTo>
                  <a:lnTo>
                    <a:pt x="9656064" y="0"/>
                  </a:lnTo>
                  <a:lnTo>
                    <a:pt x="96560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65606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ILLUSTRATIVE EXAMPLE — NOT ACTUAL PROJECT OUTPUT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071735" y="3282315"/>
            <a:ext cx="7261098" cy="1596390"/>
            <a:chOff x="0" y="0"/>
            <a:chExt cx="9681464" cy="2128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6814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968146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9514840" y="0"/>
                  </a:lnTo>
                  <a:cubicBezTo>
                    <a:pt x="9606788" y="0"/>
                    <a:pt x="9681464" y="74549"/>
                    <a:pt x="9681464" y="166624"/>
                  </a:cubicBezTo>
                  <a:lnTo>
                    <a:pt x="9681464" y="1961896"/>
                  </a:lnTo>
                  <a:cubicBezTo>
                    <a:pt x="9681464" y="2053844"/>
                    <a:pt x="9606915" y="2128520"/>
                    <a:pt x="9514840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373487" y="3584067"/>
            <a:ext cx="773430" cy="773430"/>
            <a:chOff x="0" y="0"/>
            <a:chExt cx="1031240" cy="10312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0579151" y="3789731"/>
            <a:ext cx="362102" cy="362102"/>
            <a:chOff x="0" y="0"/>
            <a:chExt cx="482803" cy="482803"/>
          </a:xfrm>
        </p:grpSpPr>
        <p:sp>
          <p:nvSpPr>
            <p:cNvPr name="Freeform 82" id="82" descr="/home/claude/proj/icons/file_cyan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0" b="1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384280" y="3511296"/>
            <a:ext cx="3566160" cy="548640"/>
            <a:chOff x="0" y="0"/>
            <a:chExt cx="475488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475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 A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384280" y="4087368"/>
            <a:ext cx="3566160" cy="438912"/>
            <a:chOff x="0" y="0"/>
            <a:chExt cx="4754880" cy="58521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Relevance Score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511528" y="3977640"/>
            <a:ext cx="2331720" cy="192024"/>
            <a:chOff x="0" y="0"/>
            <a:chExt cx="3108960" cy="25603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108960" cy="256032"/>
            </a:xfrm>
            <a:custGeom>
              <a:avLst/>
              <a:gdLst/>
              <a:ahLst/>
              <a:cxnLst/>
              <a:rect r="r" b="b" t="t" l="l"/>
              <a:pathLst>
                <a:path h="256032" w="31089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980944" y="0"/>
                  </a:lnTo>
                  <a:cubicBezTo>
                    <a:pt x="3051683" y="0"/>
                    <a:pt x="3108960" y="57277"/>
                    <a:pt x="3108960" y="128016"/>
                  </a:cubicBezTo>
                  <a:cubicBezTo>
                    <a:pt x="3108960" y="198755"/>
                    <a:pt x="3051683" y="256032"/>
                    <a:pt x="2980944" y="256032"/>
                  </a:cubicBezTo>
                  <a:lnTo>
                    <a:pt x="128016" y="256032"/>
                  </a:ln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11828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511528" y="3977640"/>
            <a:ext cx="1912010" cy="192024"/>
            <a:chOff x="0" y="0"/>
            <a:chExt cx="2549347" cy="25603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49398" cy="256032"/>
            </a:xfrm>
            <a:custGeom>
              <a:avLst/>
              <a:gdLst/>
              <a:ahLst/>
              <a:cxnLst/>
              <a:rect r="r" b="b" t="t" l="l"/>
              <a:pathLst>
                <a:path h="256032" w="254939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421382" y="0"/>
                  </a:lnTo>
                  <a:cubicBezTo>
                    <a:pt x="2492121" y="0"/>
                    <a:pt x="2549398" y="57277"/>
                    <a:pt x="2549398" y="128016"/>
                  </a:cubicBezTo>
                  <a:cubicBezTo>
                    <a:pt x="2549398" y="198755"/>
                    <a:pt x="2492121" y="256032"/>
                    <a:pt x="2421382" y="256032"/>
                  </a:cubicBezTo>
                  <a:lnTo>
                    <a:pt x="128016" y="256032"/>
                  </a:ln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4FD9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4511528" y="4251960"/>
            <a:ext cx="2331720" cy="384048"/>
            <a:chOff x="0" y="0"/>
            <a:chExt cx="3108960" cy="51206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108960" cy="512064"/>
            </a:xfrm>
            <a:custGeom>
              <a:avLst/>
              <a:gdLst/>
              <a:ahLst/>
              <a:cxnLst/>
              <a:rect r="r" b="b" t="t" l="l"/>
              <a:pathLst>
                <a:path h="5120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1089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0.82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071735" y="5133975"/>
            <a:ext cx="7261098" cy="1596390"/>
            <a:chOff x="0" y="0"/>
            <a:chExt cx="9681464" cy="2128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6814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968146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9514840" y="0"/>
                  </a:lnTo>
                  <a:cubicBezTo>
                    <a:pt x="9606788" y="0"/>
                    <a:pt x="9681464" y="74549"/>
                    <a:pt x="9681464" y="166624"/>
                  </a:cubicBezTo>
                  <a:lnTo>
                    <a:pt x="9681464" y="1961896"/>
                  </a:lnTo>
                  <a:cubicBezTo>
                    <a:pt x="9681464" y="2053844"/>
                    <a:pt x="9606915" y="2128520"/>
                    <a:pt x="9514840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0373487" y="5435727"/>
            <a:ext cx="773430" cy="773430"/>
            <a:chOff x="0" y="0"/>
            <a:chExt cx="1031240" cy="10312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579151" y="5641391"/>
            <a:ext cx="362102" cy="362102"/>
            <a:chOff x="0" y="0"/>
            <a:chExt cx="482803" cy="482803"/>
          </a:xfrm>
        </p:grpSpPr>
        <p:sp>
          <p:nvSpPr>
            <p:cNvPr name="Freeform 101" id="101" descr="/home/claude/proj/icons/file_cyan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0" b="1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384280" y="5362956"/>
            <a:ext cx="3566160" cy="548640"/>
            <a:chOff x="0" y="0"/>
            <a:chExt cx="4754880" cy="731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475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 B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384280" y="5939028"/>
            <a:ext cx="3566160" cy="438912"/>
            <a:chOff x="0" y="0"/>
            <a:chExt cx="4754880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Relevance Score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511528" y="5829300"/>
            <a:ext cx="2331720" cy="192024"/>
            <a:chOff x="0" y="0"/>
            <a:chExt cx="3108960" cy="25603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108960" cy="256032"/>
            </a:xfrm>
            <a:custGeom>
              <a:avLst/>
              <a:gdLst/>
              <a:ahLst/>
              <a:cxnLst/>
              <a:rect r="r" b="b" t="t" l="l"/>
              <a:pathLst>
                <a:path h="256032" w="31089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980944" y="0"/>
                  </a:lnTo>
                  <a:cubicBezTo>
                    <a:pt x="3051683" y="0"/>
                    <a:pt x="3108960" y="57277"/>
                    <a:pt x="3108960" y="128016"/>
                  </a:cubicBezTo>
                  <a:cubicBezTo>
                    <a:pt x="3108960" y="198755"/>
                    <a:pt x="3051683" y="256032"/>
                    <a:pt x="2980944" y="256032"/>
                  </a:cubicBezTo>
                  <a:lnTo>
                    <a:pt x="128016" y="256032"/>
                  </a:ln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1182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511528" y="5829300"/>
            <a:ext cx="1492301" cy="192024"/>
            <a:chOff x="0" y="0"/>
            <a:chExt cx="1989734" cy="25603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989709" cy="256032"/>
            </a:xfrm>
            <a:custGeom>
              <a:avLst/>
              <a:gdLst/>
              <a:ahLst/>
              <a:cxnLst/>
              <a:rect r="r" b="b" t="t" l="l"/>
              <a:pathLst>
                <a:path h="256032" w="198970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861693" y="0"/>
                  </a:lnTo>
                  <a:cubicBezTo>
                    <a:pt x="1932432" y="0"/>
                    <a:pt x="1989709" y="57277"/>
                    <a:pt x="1989709" y="128016"/>
                  </a:cubicBezTo>
                  <a:cubicBezTo>
                    <a:pt x="1989709" y="198755"/>
                    <a:pt x="1932432" y="256032"/>
                    <a:pt x="1861693" y="256032"/>
                  </a:cubicBezTo>
                  <a:lnTo>
                    <a:pt x="128016" y="256032"/>
                  </a:ln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4FD9FF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4511528" y="6103620"/>
            <a:ext cx="2331720" cy="384048"/>
            <a:chOff x="0" y="0"/>
            <a:chExt cx="3108960" cy="51206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108960" cy="512064"/>
            </a:xfrm>
            <a:custGeom>
              <a:avLst/>
              <a:gdLst/>
              <a:ahLst/>
              <a:cxnLst/>
              <a:rect r="r" b="b" t="t" l="l"/>
              <a:pathLst>
                <a:path h="5120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1089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0.64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071735" y="6985635"/>
            <a:ext cx="7261098" cy="1596390"/>
            <a:chOff x="0" y="0"/>
            <a:chExt cx="9681464" cy="21285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681464" cy="2128520"/>
            </a:xfrm>
            <a:custGeom>
              <a:avLst/>
              <a:gdLst/>
              <a:ahLst/>
              <a:cxnLst/>
              <a:rect r="r" b="b" t="t" l="l"/>
              <a:pathLst>
                <a:path h="2128520" w="9681464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9514840" y="0"/>
                  </a:lnTo>
                  <a:cubicBezTo>
                    <a:pt x="9606788" y="0"/>
                    <a:pt x="9681464" y="74549"/>
                    <a:pt x="9681464" y="166624"/>
                  </a:cubicBezTo>
                  <a:lnTo>
                    <a:pt x="9681464" y="1961896"/>
                  </a:lnTo>
                  <a:cubicBezTo>
                    <a:pt x="9681464" y="2053844"/>
                    <a:pt x="9606915" y="2128520"/>
                    <a:pt x="9514840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373487" y="7287387"/>
            <a:ext cx="773430" cy="773430"/>
            <a:chOff x="0" y="0"/>
            <a:chExt cx="1031240" cy="10312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579151" y="7493051"/>
            <a:ext cx="362102" cy="362102"/>
            <a:chOff x="0" y="0"/>
            <a:chExt cx="482803" cy="482803"/>
          </a:xfrm>
        </p:grpSpPr>
        <p:sp>
          <p:nvSpPr>
            <p:cNvPr name="Freeform 120" id="120" descr="/home/claude/proj/icons/file_cyan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0" b="1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1384280" y="7214616"/>
            <a:ext cx="3566160" cy="548640"/>
            <a:chOff x="0" y="0"/>
            <a:chExt cx="4754880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57150"/>
              <a:ext cx="475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 C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384280" y="7790688"/>
            <a:ext cx="3566160" cy="438912"/>
            <a:chOff x="0" y="0"/>
            <a:chExt cx="4754880" cy="5852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Relevance Score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4511528" y="7680960"/>
            <a:ext cx="2331720" cy="192024"/>
            <a:chOff x="0" y="0"/>
            <a:chExt cx="3108960" cy="25603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108960" cy="256032"/>
            </a:xfrm>
            <a:custGeom>
              <a:avLst/>
              <a:gdLst/>
              <a:ahLst/>
              <a:cxnLst/>
              <a:rect r="r" b="b" t="t" l="l"/>
              <a:pathLst>
                <a:path h="256032" w="31089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980944" y="0"/>
                  </a:lnTo>
                  <a:cubicBezTo>
                    <a:pt x="3051683" y="0"/>
                    <a:pt x="3108960" y="57277"/>
                    <a:pt x="3108960" y="128016"/>
                  </a:cubicBezTo>
                  <a:cubicBezTo>
                    <a:pt x="3108960" y="198755"/>
                    <a:pt x="3051683" y="256032"/>
                    <a:pt x="2980944" y="256032"/>
                  </a:cubicBezTo>
                  <a:lnTo>
                    <a:pt x="128016" y="256032"/>
                  </a:ln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11828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4511528" y="7680960"/>
            <a:ext cx="956005" cy="192024"/>
            <a:chOff x="0" y="0"/>
            <a:chExt cx="1274674" cy="25603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274699" cy="256032"/>
            </a:xfrm>
            <a:custGeom>
              <a:avLst/>
              <a:gdLst/>
              <a:ahLst/>
              <a:cxnLst/>
              <a:rect r="r" b="b" t="t" l="l"/>
              <a:pathLst>
                <a:path h="256032" w="127469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146683" y="0"/>
                  </a:lnTo>
                  <a:cubicBezTo>
                    <a:pt x="1217422" y="0"/>
                    <a:pt x="1274699" y="57277"/>
                    <a:pt x="1274699" y="128016"/>
                  </a:cubicBezTo>
                  <a:cubicBezTo>
                    <a:pt x="1274699" y="198755"/>
                    <a:pt x="1217422" y="256032"/>
                    <a:pt x="1146683" y="256032"/>
                  </a:cubicBezTo>
                  <a:lnTo>
                    <a:pt x="128016" y="256032"/>
                  </a:ln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4FD9FF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4511528" y="7955280"/>
            <a:ext cx="2331720" cy="384048"/>
            <a:chOff x="0" y="0"/>
            <a:chExt cx="3108960" cy="5120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108960" cy="512064"/>
            </a:xfrm>
            <a:custGeom>
              <a:avLst/>
              <a:gdLst/>
              <a:ahLst/>
              <a:cxnLst/>
              <a:rect r="r" b="b" t="t" l="l"/>
              <a:pathLst>
                <a:path h="51206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31089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0.41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13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3030200" cy="1097280"/>
            <a:chOff x="0" y="0"/>
            <a:chExt cx="173736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7373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19775" y="2665095"/>
            <a:ext cx="9620250" cy="713994"/>
            <a:chOff x="0" y="0"/>
            <a:chExt cx="12827000" cy="9519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011799" y="2710815"/>
            <a:ext cx="622554" cy="622554"/>
            <a:chOff x="0" y="0"/>
            <a:chExt cx="830072" cy="830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178239" y="2877255"/>
            <a:ext cx="289684" cy="289684"/>
            <a:chOff x="0" y="0"/>
            <a:chExt cx="386245" cy="386245"/>
          </a:xfrm>
        </p:grpSpPr>
        <p:sp>
          <p:nvSpPr>
            <p:cNvPr name="Freeform 19" id="19" descr="/home/claude/proj/icons/user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89420" y="2674620"/>
            <a:ext cx="8366760" cy="694944"/>
            <a:chOff x="0" y="0"/>
            <a:chExt cx="111556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4641060">
            <a:off x="10575522" y="340595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5819775" y="3442335"/>
            <a:ext cx="9620250" cy="713994"/>
            <a:chOff x="0" y="0"/>
            <a:chExt cx="12827000" cy="9519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011799" y="3488055"/>
            <a:ext cx="622554" cy="622554"/>
            <a:chOff x="0" y="0"/>
            <a:chExt cx="830072" cy="830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178239" y="3654495"/>
            <a:ext cx="289684" cy="289684"/>
            <a:chOff x="0" y="0"/>
            <a:chExt cx="386245" cy="386245"/>
          </a:xfrm>
        </p:grpSpPr>
        <p:sp>
          <p:nvSpPr>
            <p:cNvPr name="Freeform 29" id="29" descr="/home/claude/proj/icons/search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789420" y="3451860"/>
            <a:ext cx="8366760" cy="694944"/>
            <a:chOff x="0" y="0"/>
            <a:chExt cx="1115568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INTERFACE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4641060">
            <a:off x="10575522" y="418319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5819775" y="4219575"/>
            <a:ext cx="9620250" cy="713994"/>
            <a:chOff x="0" y="0"/>
            <a:chExt cx="12827000" cy="9519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11799" y="4265295"/>
            <a:ext cx="622554" cy="622554"/>
            <a:chOff x="0" y="0"/>
            <a:chExt cx="830072" cy="830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178239" y="4431735"/>
            <a:ext cx="289684" cy="289684"/>
            <a:chOff x="0" y="0"/>
            <a:chExt cx="386245" cy="386245"/>
          </a:xfrm>
        </p:grpSpPr>
        <p:sp>
          <p:nvSpPr>
            <p:cNvPr name="Freeform 39" id="39" descr="/home/claude/proj/icons/sliders_cyan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789420" y="4229100"/>
            <a:ext cx="8366760" cy="694944"/>
            <a:chOff x="0" y="0"/>
            <a:chExt cx="11155680" cy="926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PROCESSOR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4641060">
            <a:off x="10575522" y="496043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4" id="44"/>
          <p:cNvGrpSpPr/>
          <p:nvPr/>
        </p:nvGrpSpPr>
        <p:grpSpPr>
          <a:xfrm rot="0">
            <a:off x="5819775" y="4996815"/>
            <a:ext cx="9620250" cy="713994"/>
            <a:chOff x="0" y="0"/>
            <a:chExt cx="12827000" cy="9519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011799" y="5042535"/>
            <a:ext cx="622554" cy="622554"/>
            <a:chOff x="0" y="0"/>
            <a:chExt cx="830072" cy="830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178239" y="5208975"/>
            <a:ext cx="289684" cy="289684"/>
            <a:chOff x="0" y="0"/>
            <a:chExt cx="386245" cy="386245"/>
          </a:xfrm>
        </p:grpSpPr>
        <p:sp>
          <p:nvSpPr>
            <p:cNvPr name="Freeform 49" id="49" descr="/home/claude/proj/icons/hash_purpl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789420" y="5006340"/>
            <a:ext cx="8366760" cy="694944"/>
            <a:chOff x="0" y="0"/>
            <a:chExt cx="1115568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HASH TABLE / INDEX LOOKUP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641060">
            <a:off x="10575522" y="573767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5819775" y="5774055"/>
            <a:ext cx="9620250" cy="713994"/>
            <a:chOff x="0" y="0"/>
            <a:chExt cx="12827000" cy="9519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011799" y="5819775"/>
            <a:ext cx="622554" cy="622554"/>
            <a:chOff x="0" y="0"/>
            <a:chExt cx="830072" cy="830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178239" y="5986215"/>
            <a:ext cx="289684" cy="289684"/>
            <a:chOff x="0" y="0"/>
            <a:chExt cx="386245" cy="386245"/>
          </a:xfrm>
        </p:grpSpPr>
        <p:sp>
          <p:nvSpPr>
            <p:cNvPr name="Freeform 59" id="59" descr="/home/claude/proj/icons/layers_purpl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9" b="-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789420" y="5783580"/>
            <a:ext cx="8366760" cy="694944"/>
            <a:chOff x="0" y="0"/>
            <a:chExt cx="1115568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INVERTED INDEX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4641060">
            <a:off x="10575522" y="651491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5819775" y="6551295"/>
            <a:ext cx="9620250" cy="713994"/>
            <a:chOff x="0" y="0"/>
            <a:chExt cx="12827000" cy="9519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011799" y="6597015"/>
            <a:ext cx="622554" cy="622554"/>
            <a:chOff x="0" y="0"/>
            <a:chExt cx="830072" cy="8300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178239" y="6763455"/>
            <a:ext cx="289684" cy="289684"/>
            <a:chOff x="0" y="0"/>
            <a:chExt cx="386245" cy="386245"/>
          </a:xfrm>
        </p:grpSpPr>
        <p:sp>
          <p:nvSpPr>
            <p:cNvPr name="Freeform 69" id="69" descr="/home/claude/proj/icons/database_cyan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9" b="-9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789420" y="6560820"/>
            <a:ext cx="8366760" cy="694944"/>
            <a:chOff x="0" y="0"/>
            <a:chExt cx="1115568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 RETRIEVAL</a:t>
              </a:r>
            </a:p>
          </p:txBody>
        </p:sp>
      </p:grpSp>
      <p:sp>
        <p:nvSpPr>
          <p:cNvPr name="AutoShape 73" id="73"/>
          <p:cNvSpPr/>
          <p:nvPr/>
        </p:nvSpPr>
        <p:spPr>
          <a:xfrm rot="4641060">
            <a:off x="10575522" y="729215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4" id="74"/>
          <p:cNvGrpSpPr/>
          <p:nvPr/>
        </p:nvGrpSpPr>
        <p:grpSpPr>
          <a:xfrm rot="0">
            <a:off x="5819775" y="7328535"/>
            <a:ext cx="9620250" cy="713994"/>
            <a:chOff x="0" y="0"/>
            <a:chExt cx="12827000" cy="9519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6011799" y="7374255"/>
            <a:ext cx="622554" cy="622554"/>
            <a:chOff x="0" y="0"/>
            <a:chExt cx="830072" cy="8300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6178239" y="7540695"/>
            <a:ext cx="289684" cy="289684"/>
            <a:chOff x="0" y="0"/>
            <a:chExt cx="386245" cy="386245"/>
          </a:xfrm>
        </p:grpSpPr>
        <p:sp>
          <p:nvSpPr>
            <p:cNvPr name="Freeform 79" id="79" descr="/home/claude/proj/icons/bar-chart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9" b="-9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789420" y="7338060"/>
            <a:ext cx="8366760" cy="694944"/>
            <a:chOff x="0" y="0"/>
            <a:chExt cx="111556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 SCORING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 rot="4641060">
            <a:off x="10575522" y="806939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4" id="84"/>
          <p:cNvGrpSpPr/>
          <p:nvPr/>
        </p:nvGrpSpPr>
        <p:grpSpPr>
          <a:xfrm rot="0">
            <a:off x="5819775" y="8105775"/>
            <a:ext cx="9620250" cy="713994"/>
            <a:chOff x="0" y="0"/>
            <a:chExt cx="12827000" cy="9519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6011799" y="8151495"/>
            <a:ext cx="622554" cy="622554"/>
            <a:chOff x="0" y="0"/>
            <a:chExt cx="830072" cy="8300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6178239" y="8317935"/>
            <a:ext cx="289684" cy="289684"/>
            <a:chOff x="0" y="0"/>
            <a:chExt cx="386245" cy="386245"/>
          </a:xfrm>
        </p:grpSpPr>
        <p:sp>
          <p:nvSpPr>
            <p:cNvPr name="Freeform 89" id="89" descr="/home/claude/proj/icons/trending-up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9" b="-9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789420" y="8115300"/>
            <a:ext cx="8366760" cy="694944"/>
            <a:chOff x="0" y="0"/>
            <a:chExt cx="11155680" cy="9265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 MODULE</a:t>
              </a:r>
            </a:p>
          </p:txBody>
        </p:sp>
      </p:grpSp>
      <p:sp>
        <p:nvSpPr>
          <p:cNvPr name="AutoShape 93" id="93"/>
          <p:cNvSpPr/>
          <p:nvPr/>
        </p:nvSpPr>
        <p:spPr>
          <a:xfrm rot="4641060">
            <a:off x="10575522" y="8846630"/>
            <a:ext cx="108747" cy="0"/>
          </a:xfrm>
          <a:prstGeom prst="line">
            <a:avLst/>
          </a:prstGeom>
          <a:ln cap="rnd" w="9525">
            <a:solidFill>
              <a:srgbClr val="2A93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4" id="94"/>
          <p:cNvGrpSpPr/>
          <p:nvPr/>
        </p:nvGrpSpPr>
        <p:grpSpPr>
          <a:xfrm rot="0">
            <a:off x="5819775" y="8883015"/>
            <a:ext cx="9620250" cy="713994"/>
            <a:chOff x="0" y="0"/>
            <a:chExt cx="12827000" cy="9519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827000" cy="951992"/>
            </a:xfrm>
            <a:custGeom>
              <a:avLst/>
              <a:gdLst/>
              <a:ahLst/>
              <a:cxnLst/>
              <a:rect r="r" b="b" t="t" l="l"/>
              <a:pathLst>
                <a:path h="951992" w="1282700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2657836" y="0"/>
                  </a:lnTo>
                  <a:cubicBezTo>
                    <a:pt x="12751181" y="0"/>
                    <a:pt x="12827000" y="75692"/>
                    <a:pt x="12827000" y="169164"/>
                  </a:cubicBezTo>
                  <a:lnTo>
                    <a:pt x="12827000" y="782828"/>
                  </a:lnTo>
                  <a:cubicBezTo>
                    <a:pt x="12827000" y="876173"/>
                    <a:pt x="12751308" y="951992"/>
                    <a:pt x="12657836" y="951992"/>
                  </a:cubicBezTo>
                  <a:lnTo>
                    <a:pt x="169164" y="951992"/>
                  </a:lnTo>
                  <a:cubicBezTo>
                    <a:pt x="75692" y="951992"/>
                    <a:pt x="0" y="876300"/>
                    <a:pt x="0" y="782828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6011799" y="8928735"/>
            <a:ext cx="622554" cy="622554"/>
            <a:chOff x="0" y="0"/>
            <a:chExt cx="830072" cy="8300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6178239" y="9095175"/>
            <a:ext cx="289684" cy="289684"/>
            <a:chOff x="0" y="0"/>
            <a:chExt cx="386245" cy="386245"/>
          </a:xfrm>
        </p:grpSpPr>
        <p:sp>
          <p:nvSpPr>
            <p:cNvPr name="Freeform 99" id="99" descr="/home/claude/proj/icons/list_white.png"/>
            <p:cNvSpPr/>
            <p:nvPr/>
          </p:nvSpPr>
          <p:spPr>
            <a:xfrm flipH="false" flipV="false" rot="0">
              <a:off x="0" y="0"/>
              <a:ext cx="386207" cy="386207"/>
            </a:xfrm>
            <a:custGeom>
              <a:avLst/>
              <a:gdLst/>
              <a:ahLst/>
              <a:cxnLst/>
              <a:rect r="r" b="b" t="t" l="l"/>
              <a:pathLst>
                <a:path h="386207" w="386207">
                  <a:moveTo>
                    <a:pt x="0" y="0"/>
                  </a:moveTo>
                  <a:lnTo>
                    <a:pt x="386207" y="0"/>
                  </a:lnTo>
                  <a:lnTo>
                    <a:pt x="386207" y="386207"/>
                  </a:lnTo>
                  <a:lnTo>
                    <a:pt x="0" y="38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9" b="-9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789420" y="8892540"/>
            <a:ext cx="8366760" cy="694944"/>
            <a:chOff x="0" y="0"/>
            <a:chExt cx="11155680" cy="9265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15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4589" r="0" b="-18458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115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 spc="1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RESULTS</a:t>
              </a:r>
            </a:p>
          </p:txBody>
        </p:sp>
      </p:grpSp>
      <p:sp>
        <p:nvSpPr>
          <p:cNvPr name="AutoShape 103" id="103"/>
          <p:cNvSpPr/>
          <p:nvPr/>
        </p:nvSpPr>
        <p:spPr>
          <a:xfrm rot="5302680">
            <a:off x="4676127" y="3401187"/>
            <a:ext cx="1346235" cy="0"/>
          </a:xfrm>
          <a:prstGeom prst="line">
            <a:avLst/>
          </a:prstGeom>
          <a:ln cap="rnd" w="19050">
            <a:solidFill>
              <a:srgbClr val="8B96A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4" id="104"/>
          <p:cNvGrpSpPr/>
          <p:nvPr/>
        </p:nvGrpSpPr>
        <p:grpSpPr>
          <a:xfrm rot="0">
            <a:off x="2948940" y="3136392"/>
            <a:ext cx="2125980" cy="548640"/>
            <a:chOff x="0" y="0"/>
            <a:chExt cx="283464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834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2834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b="true" sz="1575" spc="112">
                  <a:solidFill>
                    <a:srgbClr val="8B96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sp>
        <p:nvSpPr>
          <p:cNvPr name="AutoShape 107" id="107"/>
          <p:cNvSpPr/>
          <p:nvPr/>
        </p:nvSpPr>
        <p:spPr>
          <a:xfrm rot="5169960">
            <a:off x="5064376" y="4567047"/>
            <a:ext cx="569728" cy="0"/>
          </a:xfrm>
          <a:prstGeom prst="line">
            <a:avLst/>
          </a:prstGeom>
          <a:ln cap="rnd" w="19050">
            <a:solidFill>
              <a:srgbClr val="4F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8" id="108"/>
          <p:cNvGrpSpPr/>
          <p:nvPr/>
        </p:nvGrpSpPr>
        <p:grpSpPr>
          <a:xfrm rot="0">
            <a:off x="2948940" y="4302252"/>
            <a:ext cx="2125980" cy="548640"/>
            <a:chOff x="0" y="0"/>
            <a:chExt cx="283464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834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834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b="true" sz="1575" spc="112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</a:t>
              </a:r>
            </a:p>
          </p:txBody>
        </p:sp>
      </p:grpSp>
      <p:sp>
        <p:nvSpPr>
          <p:cNvPr name="AutoShape 111" id="111"/>
          <p:cNvSpPr/>
          <p:nvPr/>
        </p:nvSpPr>
        <p:spPr>
          <a:xfrm rot="5302680">
            <a:off x="4676127" y="5732907"/>
            <a:ext cx="1346235" cy="0"/>
          </a:xfrm>
          <a:prstGeom prst="line">
            <a:avLst/>
          </a:prstGeom>
          <a:ln cap="rnd" w="19050">
            <a:solidFill>
              <a:srgbClr val="A78B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2948940" y="5468112"/>
            <a:ext cx="2125980" cy="548640"/>
            <a:chOff x="0" y="0"/>
            <a:chExt cx="2834640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834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9050"/>
              <a:ext cx="2834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b="true" sz="1575" spc="112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</a:t>
              </a:r>
            </a:p>
          </p:txBody>
        </p:sp>
      </p:grpSp>
      <p:sp>
        <p:nvSpPr>
          <p:cNvPr name="AutoShape 115" id="115"/>
          <p:cNvSpPr/>
          <p:nvPr/>
        </p:nvSpPr>
        <p:spPr>
          <a:xfrm rot="5169960">
            <a:off x="5064376" y="6898767"/>
            <a:ext cx="569728" cy="0"/>
          </a:xfrm>
          <a:prstGeom prst="line">
            <a:avLst/>
          </a:prstGeom>
          <a:ln cap="rnd" w="19050">
            <a:solidFill>
              <a:srgbClr val="4F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6" id="116"/>
          <p:cNvGrpSpPr/>
          <p:nvPr/>
        </p:nvGrpSpPr>
        <p:grpSpPr>
          <a:xfrm rot="0">
            <a:off x="2948940" y="6633972"/>
            <a:ext cx="2125980" cy="548640"/>
            <a:chOff x="0" y="0"/>
            <a:chExt cx="283464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34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2834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b="true" sz="1575" spc="112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</a:t>
              </a:r>
            </a:p>
          </p:txBody>
        </p:sp>
      </p:grpSp>
      <p:sp>
        <p:nvSpPr>
          <p:cNvPr name="AutoShape 119" id="119"/>
          <p:cNvSpPr/>
          <p:nvPr/>
        </p:nvSpPr>
        <p:spPr>
          <a:xfrm rot="5302680">
            <a:off x="4676127" y="8064627"/>
            <a:ext cx="1346235" cy="0"/>
          </a:xfrm>
          <a:prstGeom prst="line">
            <a:avLst/>
          </a:prstGeom>
          <a:ln cap="rnd" w="19050">
            <a:solidFill>
              <a:srgbClr val="F2C87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0" id="120"/>
          <p:cNvGrpSpPr/>
          <p:nvPr/>
        </p:nvGrpSpPr>
        <p:grpSpPr>
          <a:xfrm rot="0">
            <a:off x="2948940" y="7799832"/>
            <a:ext cx="2125980" cy="548640"/>
            <a:chOff x="0" y="0"/>
            <a:chExt cx="2834640" cy="73152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834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2834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b="true" sz="1575" spc="112">
                  <a:solidFill>
                    <a:srgbClr val="F2C8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</a:t>
              </a:r>
            </a:p>
          </p:txBody>
        </p:sp>
      </p:grpSp>
      <p:sp>
        <p:nvSpPr>
          <p:cNvPr name="AutoShape 123" id="123"/>
          <p:cNvSpPr/>
          <p:nvPr/>
        </p:nvSpPr>
        <p:spPr>
          <a:xfrm rot="5169960">
            <a:off x="5064376" y="9230487"/>
            <a:ext cx="569728" cy="0"/>
          </a:xfrm>
          <a:prstGeom prst="line">
            <a:avLst/>
          </a:prstGeom>
          <a:ln cap="rnd" w="19050">
            <a:solidFill>
              <a:srgbClr val="8B96A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4" id="124"/>
          <p:cNvGrpSpPr/>
          <p:nvPr/>
        </p:nvGrpSpPr>
        <p:grpSpPr>
          <a:xfrm rot="0">
            <a:off x="2948940" y="8965692"/>
            <a:ext cx="2125980" cy="548640"/>
            <a:chOff x="0" y="0"/>
            <a:chExt cx="2834640" cy="7315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834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834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b="true" sz="1575" spc="112">
                  <a:solidFill>
                    <a:srgbClr val="8B96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· EXPECTED OUTCOME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3030200" cy="1097280"/>
            <a:chOff x="0" y="0"/>
            <a:chExt cx="173736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7373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Expected Outcome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120" y="2606040"/>
            <a:ext cx="16367303" cy="2606040"/>
            <a:chOff x="0" y="0"/>
            <a:chExt cx="21823070" cy="3474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23069" cy="3474720"/>
            </a:xfrm>
            <a:custGeom>
              <a:avLst/>
              <a:gdLst/>
              <a:ahLst/>
              <a:cxnLst/>
              <a:rect r="r" b="b" t="t" l="l"/>
              <a:pathLst>
                <a:path h="3474720" w="21823069">
                  <a:moveTo>
                    <a:pt x="0" y="0"/>
                  </a:moveTo>
                  <a:lnTo>
                    <a:pt x="21823069" y="0"/>
                  </a:lnTo>
                  <a:lnTo>
                    <a:pt x="21823069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376" r="0" b="-723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33350"/>
              <a:ext cx="21823070" cy="3608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0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Faster retrieval.</a:t>
              </a:r>
            </a:p>
            <a:p>
              <a:pPr algn="ctr">
                <a:lnSpc>
                  <a:spcPts val="6300"/>
                </a:lnSpc>
              </a:pPr>
              <a:r>
                <a:rPr lang="en-US" sz="4200" b="true">
                  <a:solidFill>
                    <a:srgbClr val="4FD9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Better relevance.</a:t>
              </a:r>
            </a:p>
            <a:p>
              <a:pPr algn="ctr">
                <a:lnSpc>
                  <a:spcPts val="6300"/>
                </a:lnSpc>
              </a:pPr>
              <a:r>
                <a:rPr lang="en-US" sz="4200" b="true">
                  <a:solidFill>
                    <a:srgbClr val="A78B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Efficient document management.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595" y="5682615"/>
            <a:ext cx="3832098" cy="2145030"/>
            <a:chOff x="0" y="0"/>
            <a:chExt cx="5109464" cy="2860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094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5109464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4943348" y="0"/>
                  </a:lnTo>
                  <a:cubicBezTo>
                    <a:pt x="5035042" y="0"/>
                    <a:pt x="5109464" y="74295"/>
                    <a:pt x="5109464" y="166116"/>
                  </a:cubicBezTo>
                  <a:lnTo>
                    <a:pt x="5109464" y="2693924"/>
                  </a:lnTo>
                  <a:cubicBezTo>
                    <a:pt x="5109464" y="2785618"/>
                    <a:pt x="5035169" y="2860040"/>
                    <a:pt x="4943348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404491" y="6066663"/>
            <a:ext cx="924306" cy="924306"/>
            <a:chOff x="0" y="0"/>
            <a:chExt cx="1232408" cy="12324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2408" cy="1232408"/>
            </a:xfrm>
            <a:custGeom>
              <a:avLst/>
              <a:gdLst/>
              <a:ahLst/>
              <a:cxnLst/>
              <a:rect r="r" b="b" t="t" l="l"/>
              <a:pathLst>
                <a:path h="1232408" w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649379" y="6311551"/>
            <a:ext cx="434521" cy="434521"/>
            <a:chOff x="0" y="0"/>
            <a:chExt cx="579361" cy="579361"/>
          </a:xfrm>
        </p:grpSpPr>
        <p:sp>
          <p:nvSpPr>
            <p:cNvPr name="Freeform 22" id="22" descr="/home/claude/proj/icons/zap_cyan.png"/>
            <p:cNvSpPr/>
            <p:nvPr/>
          </p:nvSpPr>
          <p:spPr>
            <a:xfrm flipH="false" flipV="false" rot="0">
              <a:off x="0" y="0"/>
              <a:ext cx="579374" cy="579374"/>
            </a:xfrm>
            <a:custGeom>
              <a:avLst/>
              <a:gdLst/>
              <a:ahLst/>
              <a:cxnLst/>
              <a:rect r="r" b="b" t="t" l="l"/>
              <a:pathLst>
                <a:path h="579374" w="579374">
                  <a:moveTo>
                    <a:pt x="0" y="0"/>
                  </a:moveTo>
                  <a:lnTo>
                    <a:pt x="579374" y="0"/>
                  </a:lnTo>
                  <a:lnTo>
                    <a:pt x="579374" y="579374"/>
                  </a:lnTo>
                  <a:lnTo>
                    <a:pt x="0" y="579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7091172"/>
            <a:ext cx="3401568" cy="617220"/>
            <a:chOff x="0" y="0"/>
            <a:chExt cx="4535424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5424" cy="822960"/>
            </a:xfrm>
            <a:custGeom>
              <a:avLst/>
              <a:gdLst/>
              <a:ahLst/>
              <a:cxnLst/>
              <a:rect r="r" b="b" t="t" l="l"/>
              <a:pathLst>
                <a:path h="822960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84" r="0" b="-5738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3542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Efficient Retrieval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47691" y="5682615"/>
            <a:ext cx="3832098" cy="2145030"/>
            <a:chOff x="0" y="0"/>
            <a:chExt cx="5109464" cy="2860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094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5109464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4943348" y="0"/>
                  </a:lnTo>
                  <a:cubicBezTo>
                    <a:pt x="5035042" y="0"/>
                    <a:pt x="5109464" y="74295"/>
                    <a:pt x="5109464" y="166116"/>
                  </a:cubicBezTo>
                  <a:lnTo>
                    <a:pt x="5109464" y="2693924"/>
                  </a:lnTo>
                  <a:cubicBezTo>
                    <a:pt x="5109464" y="2785618"/>
                    <a:pt x="5035169" y="2860040"/>
                    <a:pt x="4943348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601587" y="6066663"/>
            <a:ext cx="924306" cy="924306"/>
            <a:chOff x="0" y="0"/>
            <a:chExt cx="1232408" cy="12324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32408" cy="1232408"/>
            </a:xfrm>
            <a:custGeom>
              <a:avLst/>
              <a:gdLst/>
              <a:ahLst/>
              <a:cxnLst/>
              <a:rect r="r" b="b" t="t" l="l"/>
              <a:pathLst>
                <a:path h="1232408" w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846475" y="6311551"/>
            <a:ext cx="434521" cy="434521"/>
            <a:chOff x="0" y="0"/>
            <a:chExt cx="579361" cy="579361"/>
          </a:xfrm>
        </p:grpSpPr>
        <p:sp>
          <p:nvSpPr>
            <p:cNvPr name="Freeform 31" id="31" descr="/home/claude/proj/icons/target_cyan.png"/>
            <p:cNvSpPr/>
            <p:nvPr/>
          </p:nvSpPr>
          <p:spPr>
            <a:xfrm flipH="false" flipV="false" rot="0">
              <a:off x="0" y="0"/>
              <a:ext cx="579374" cy="579374"/>
            </a:xfrm>
            <a:custGeom>
              <a:avLst/>
              <a:gdLst/>
              <a:ahLst/>
              <a:cxnLst/>
              <a:rect r="r" b="b" t="t" l="l"/>
              <a:pathLst>
                <a:path h="579374" w="579374">
                  <a:moveTo>
                    <a:pt x="0" y="0"/>
                  </a:moveTo>
                  <a:lnTo>
                    <a:pt x="579374" y="0"/>
                  </a:lnTo>
                  <a:lnTo>
                    <a:pt x="579374" y="579374"/>
                  </a:lnTo>
                  <a:lnTo>
                    <a:pt x="0" y="579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62956" y="7091172"/>
            <a:ext cx="3401568" cy="617220"/>
            <a:chOff x="0" y="0"/>
            <a:chExt cx="4535424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35424" cy="822960"/>
            </a:xfrm>
            <a:custGeom>
              <a:avLst/>
              <a:gdLst/>
              <a:ahLst/>
              <a:cxnLst/>
              <a:rect r="r" b="b" t="t" l="l"/>
              <a:pathLst>
                <a:path h="822960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84" r="0" b="-5738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3542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Relevant Ranking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44787" y="5682615"/>
            <a:ext cx="3832098" cy="2145030"/>
            <a:chOff x="0" y="0"/>
            <a:chExt cx="5109464" cy="286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094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5109464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4943348" y="0"/>
                  </a:lnTo>
                  <a:cubicBezTo>
                    <a:pt x="5035042" y="0"/>
                    <a:pt x="5109464" y="74295"/>
                    <a:pt x="5109464" y="166116"/>
                  </a:cubicBezTo>
                  <a:lnTo>
                    <a:pt x="5109464" y="2693924"/>
                  </a:lnTo>
                  <a:cubicBezTo>
                    <a:pt x="5109464" y="2785618"/>
                    <a:pt x="5035169" y="2860040"/>
                    <a:pt x="4943348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798683" y="6066663"/>
            <a:ext cx="924306" cy="924306"/>
            <a:chOff x="0" y="0"/>
            <a:chExt cx="1232408" cy="12324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32408" cy="1232408"/>
            </a:xfrm>
            <a:custGeom>
              <a:avLst/>
              <a:gdLst/>
              <a:ahLst/>
              <a:cxnLst/>
              <a:rect r="r" b="b" t="t" l="l"/>
              <a:pathLst>
                <a:path h="1232408" w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043571" y="6311551"/>
            <a:ext cx="434521" cy="434521"/>
            <a:chOff x="0" y="0"/>
            <a:chExt cx="579361" cy="579361"/>
          </a:xfrm>
        </p:grpSpPr>
        <p:sp>
          <p:nvSpPr>
            <p:cNvPr name="Freeform 40" id="40" descr="/home/claude/proj/icons/hash_cyan.png"/>
            <p:cNvSpPr/>
            <p:nvPr/>
          </p:nvSpPr>
          <p:spPr>
            <a:xfrm flipH="false" flipV="false" rot="0">
              <a:off x="0" y="0"/>
              <a:ext cx="579374" cy="579374"/>
            </a:xfrm>
            <a:custGeom>
              <a:avLst/>
              <a:gdLst/>
              <a:ahLst/>
              <a:cxnLst/>
              <a:rect r="r" b="b" t="t" l="l"/>
              <a:pathLst>
                <a:path h="579374" w="579374">
                  <a:moveTo>
                    <a:pt x="0" y="0"/>
                  </a:moveTo>
                  <a:lnTo>
                    <a:pt x="579374" y="0"/>
                  </a:lnTo>
                  <a:lnTo>
                    <a:pt x="579374" y="579374"/>
                  </a:lnTo>
                  <a:lnTo>
                    <a:pt x="0" y="579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60052" y="7091172"/>
            <a:ext cx="3401568" cy="617220"/>
            <a:chOff x="0" y="0"/>
            <a:chExt cx="4535424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35424" cy="822960"/>
            </a:xfrm>
            <a:custGeom>
              <a:avLst/>
              <a:gdLst/>
              <a:ahLst/>
              <a:cxnLst/>
              <a:rect r="r" b="b" t="t" l="l"/>
              <a:pathLst>
                <a:path h="822960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84" r="0" b="-573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53542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 Lookups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41883" y="5682615"/>
            <a:ext cx="3832098" cy="2145030"/>
            <a:chOff x="0" y="0"/>
            <a:chExt cx="5109464" cy="2860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094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5109464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4943348" y="0"/>
                  </a:lnTo>
                  <a:cubicBezTo>
                    <a:pt x="5035042" y="0"/>
                    <a:pt x="5109464" y="74295"/>
                    <a:pt x="5109464" y="166116"/>
                  </a:cubicBezTo>
                  <a:lnTo>
                    <a:pt x="5109464" y="2693924"/>
                  </a:lnTo>
                  <a:cubicBezTo>
                    <a:pt x="5109464" y="2785618"/>
                    <a:pt x="5035169" y="2860040"/>
                    <a:pt x="4943348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995779" y="6066663"/>
            <a:ext cx="924306" cy="924306"/>
            <a:chOff x="0" y="0"/>
            <a:chExt cx="1232408" cy="12324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32408" cy="1232408"/>
            </a:xfrm>
            <a:custGeom>
              <a:avLst/>
              <a:gdLst/>
              <a:ahLst/>
              <a:cxnLst/>
              <a:rect r="r" b="b" t="t" l="l"/>
              <a:pathLst>
                <a:path h="1232408" w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240667" y="6311551"/>
            <a:ext cx="434521" cy="434521"/>
            <a:chOff x="0" y="0"/>
            <a:chExt cx="579361" cy="579361"/>
          </a:xfrm>
        </p:grpSpPr>
        <p:sp>
          <p:nvSpPr>
            <p:cNvPr name="Freeform 49" id="49" descr="/home/claude/proj/icons/grid_cyan.png"/>
            <p:cNvSpPr/>
            <p:nvPr/>
          </p:nvSpPr>
          <p:spPr>
            <a:xfrm flipH="false" flipV="false" rot="0">
              <a:off x="0" y="0"/>
              <a:ext cx="579374" cy="579374"/>
            </a:xfrm>
            <a:custGeom>
              <a:avLst/>
              <a:gdLst/>
              <a:ahLst/>
              <a:cxnLst/>
              <a:rect r="r" b="b" t="t" l="l"/>
              <a:pathLst>
                <a:path h="579374" w="579374">
                  <a:moveTo>
                    <a:pt x="0" y="0"/>
                  </a:moveTo>
                  <a:lnTo>
                    <a:pt x="579374" y="0"/>
                  </a:lnTo>
                  <a:lnTo>
                    <a:pt x="579374" y="579374"/>
                  </a:lnTo>
                  <a:lnTo>
                    <a:pt x="0" y="579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757148" y="7091172"/>
            <a:ext cx="3401568" cy="617220"/>
            <a:chOff x="0" y="0"/>
            <a:chExt cx="4535424" cy="822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35424" cy="822960"/>
            </a:xfrm>
            <a:custGeom>
              <a:avLst/>
              <a:gdLst/>
              <a:ahLst/>
              <a:cxnLst/>
              <a:rect r="r" b="b" t="t" l="l"/>
              <a:pathLst>
                <a:path h="822960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384" r="0" b="-5738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53542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Structured Indexing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94560" y="8229600"/>
            <a:ext cx="13898423" cy="960120"/>
            <a:chOff x="0" y="0"/>
            <a:chExt cx="1853123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53123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531230">
                  <a:moveTo>
                    <a:pt x="0" y="0"/>
                  </a:moveTo>
                  <a:lnTo>
                    <a:pt x="18531230" y="0"/>
                  </a:lnTo>
                  <a:lnTo>
                    <a:pt x="1853123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059" r="0" b="-23205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1853123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025" i="true">
                  <a:solidFill>
                    <a:srgbClr val="8B96A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system demonstrates how fundamental DSA concepts can be applied to a practical Information Retrieval problem.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754380"/>
            <a:ext cx="8229600" cy="438912"/>
            <a:chOff x="0" y="0"/>
            <a:chExt cx="10972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234440"/>
            <a:ext cx="15773400" cy="1097280"/>
            <a:chOff x="0" y="0"/>
            <a:chExt cx="2103120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 &amp; Future Scope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2733675"/>
            <a:ext cx="7837170" cy="5985510"/>
            <a:chOff x="0" y="0"/>
            <a:chExt cx="10449560" cy="7980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49560" cy="7980680"/>
            </a:xfrm>
            <a:custGeom>
              <a:avLst/>
              <a:gdLst/>
              <a:ahLst/>
              <a:cxnLst/>
              <a:rect r="r" b="b" t="t" l="l"/>
              <a:pathLst>
                <a:path h="7980680" w="1044956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284460" y="0"/>
                  </a:lnTo>
                  <a:cubicBezTo>
                    <a:pt x="10375646" y="0"/>
                    <a:pt x="10449560" y="73914"/>
                    <a:pt x="10449560" y="165100"/>
                  </a:cubicBezTo>
                  <a:lnTo>
                    <a:pt x="10449560" y="7815580"/>
                  </a:lnTo>
                  <a:cubicBezTo>
                    <a:pt x="10449560" y="7906766"/>
                    <a:pt x="10375646" y="7980680"/>
                    <a:pt x="10284460" y="7980680"/>
                  </a:cubicBezTo>
                  <a:lnTo>
                    <a:pt x="165100" y="7980680"/>
                  </a:lnTo>
                  <a:cubicBezTo>
                    <a:pt x="73914" y="7980680"/>
                    <a:pt x="0" y="7906766"/>
                    <a:pt x="0" y="7815580"/>
                  </a:cubicBezTo>
                  <a:close/>
                </a:path>
              </a:pathLst>
            </a:custGeom>
            <a:solidFill>
              <a:srgbClr val="16223A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30655" y="3213735"/>
            <a:ext cx="842010" cy="842010"/>
            <a:chOff x="0" y="0"/>
            <a:chExt cx="1122680" cy="1122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54150" y="3437230"/>
            <a:ext cx="395021" cy="395021"/>
            <a:chOff x="0" y="0"/>
            <a:chExt cx="526694" cy="526694"/>
          </a:xfrm>
        </p:grpSpPr>
        <p:sp>
          <p:nvSpPr>
            <p:cNvPr name="Freeform 19" id="19" descr="/home/claude/proj/icons/check-circle_cyan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68880" y="3223260"/>
            <a:ext cx="5486400" cy="822960"/>
            <a:chOff x="0" y="0"/>
            <a:chExt cx="73152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3152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25">
                  <a:solidFill>
                    <a:srgbClr val="4FD9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0180" y="4389120"/>
            <a:ext cx="6789420" cy="3977640"/>
            <a:chOff x="0" y="0"/>
            <a:chExt cx="9052560" cy="5303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52560" cy="5303520"/>
            </a:xfrm>
            <a:custGeom>
              <a:avLst/>
              <a:gdLst/>
              <a:ahLst/>
              <a:cxnLst/>
              <a:rect r="r" b="b" t="t" l="l"/>
              <a:pathLst>
                <a:path h="53035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5303520"/>
                  </a:lnTo>
                  <a:lnTo>
                    <a:pt x="0" y="5303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167" t="0" r="-2516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9052560" cy="5436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3"/>
                </a:lnSpc>
              </a:pPr>
              <a:r>
                <a:rPr lang="en-US" sz="2175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Mini Search Engine demonstrates the application of inverted indexing, hashing, tokenization, query processing and TF-IDF ranking to build an efficient information retrieval system.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48775" y="2733675"/>
            <a:ext cx="8084058" cy="5985510"/>
            <a:chOff x="0" y="0"/>
            <a:chExt cx="10778744" cy="7980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78744" cy="7980680"/>
            </a:xfrm>
            <a:custGeom>
              <a:avLst/>
              <a:gdLst/>
              <a:ahLst/>
              <a:cxnLst/>
              <a:rect r="r" b="b" t="t" l="l"/>
              <a:pathLst>
                <a:path h="7980680" w="10778744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613644" y="0"/>
                  </a:lnTo>
                  <a:cubicBezTo>
                    <a:pt x="10704830" y="0"/>
                    <a:pt x="10778744" y="73914"/>
                    <a:pt x="10778744" y="165100"/>
                  </a:cubicBezTo>
                  <a:lnTo>
                    <a:pt x="10778744" y="7815580"/>
                  </a:lnTo>
                  <a:cubicBezTo>
                    <a:pt x="10778744" y="7906766"/>
                    <a:pt x="10704830" y="7980680"/>
                    <a:pt x="10613644" y="7980680"/>
                  </a:cubicBezTo>
                  <a:lnTo>
                    <a:pt x="165100" y="7980680"/>
                  </a:lnTo>
                  <a:cubicBezTo>
                    <a:pt x="73914" y="7980680"/>
                    <a:pt x="0" y="7906766"/>
                    <a:pt x="0" y="7815580"/>
                  </a:cubicBezTo>
                  <a:close/>
                </a:path>
              </a:pathLst>
            </a:custGeom>
            <a:solidFill>
              <a:srgbClr val="141C2E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728835" y="3213735"/>
            <a:ext cx="842010" cy="842010"/>
            <a:chOff x="0" y="0"/>
            <a:chExt cx="1122680" cy="1122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11828"/>
            </a:solidFill>
            <a:ln w="19050" cap="sq">
              <a:solidFill>
                <a:srgbClr val="26314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952330" y="3437230"/>
            <a:ext cx="395021" cy="395021"/>
            <a:chOff x="0" y="0"/>
            <a:chExt cx="526694" cy="526694"/>
          </a:xfrm>
        </p:grpSpPr>
        <p:sp>
          <p:nvSpPr>
            <p:cNvPr name="Freeform 31" id="31" descr="/home/claude/proj/icons/trending-up_purple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767060" y="3223260"/>
            <a:ext cx="5486400" cy="822960"/>
            <a:chOff x="0" y="0"/>
            <a:chExt cx="731520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3152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25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8360" y="4402836"/>
            <a:ext cx="219456" cy="219456"/>
            <a:chOff x="0" y="0"/>
            <a:chExt cx="292608" cy="2926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77272" y="4183380"/>
            <a:ext cx="6926580" cy="685800"/>
            <a:chOff x="0" y="0"/>
            <a:chExt cx="923544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35440" cy="914400"/>
            </a:xfrm>
            <a:custGeom>
              <a:avLst/>
              <a:gdLst/>
              <a:ahLst/>
              <a:cxnLst/>
              <a:rect r="r" b="b" t="t" l="l"/>
              <a:pathLst>
                <a:path h="914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92354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larger document collections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38360" y="5253228"/>
            <a:ext cx="219456" cy="219456"/>
            <a:chOff x="0" y="0"/>
            <a:chExt cx="292608" cy="292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177272" y="5033772"/>
            <a:ext cx="6926580" cy="685800"/>
            <a:chOff x="0" y="0"/>
            <a:chExt cx="923544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35440" cy="914400"/>
            </a:xfrm>
            <a:custGeom>
              <a:avLst/>
              <a:gdLst/>
              <a:ahLst/>
              <a:cxnLst/>
              <a:rect r="r" b="b" t="t" l="l"/>
              <a:pathLst>
                <a:path h="914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92354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 ranking strategies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38360" y="6103620"/>
            <a:ext cx="219456" cy="219456"/>
            <a:chOff x="0" y="0"/>
            <a:chExt cx="292608" cy="292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177272" y="5884164"/>
            <a:ext cx="6926580" cy="685800"/>
            <a:chOff x="0" y="0"/>
            <a:chExt cx="92354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35440" cy="914400"/>
            </a:xfrm>
            <a:custGeom>
              <a:avLst/>
              <a:gdLst/>
              <a:ahLst/>
              <a:cxnLst/>
              <a:rect r="r" b="b" t="t" l="l"/>
              <a:pathLst>
                <a:path h="914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2354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more advanced query processing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38360" y="6954012"/>
            <a:ext cx="219456" cy="219456"/>
            <a:chOff x="0" y="0"/>
            <a:chExt cx="292608" cy="2926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177272" y="6734556"/>
            <a:ext cx="6926580" cy="685800"/>
            <a:chOff x="0" y="0"/>
            <a:chExt cx="923544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35440" cy="914400"/>
            </a:xfrm>
            <a:custGeom>
              <a:avLst/>
              <a:gdLst/>
              <a:ahLst/>
              <a:cxnLst/>
              <a:rect r="r" b="b" t="t" l="l"/>
              <a:pathLst>
                <a:path h="914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92354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 the system with additional retrieval techniques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38360" y="7804404"/>
            <a:ext cx="219456" cy="219456"/>
            <a:chOff x="0" y="0"/>
            <a:chExt cx="292608" cy="2926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177272" y="7584948"/>
            <a:ext cx="6926580" cy="685800"/>
            <a:chOff x="0" y="0"/>
            <a:chExt cx="923544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235440" cy="914400"/>
            </a:xfrm>
            <a:custGeom>
              <a:avLst/>
              <a:gdLst/>
              <a:ahLst/>
              <a:cxnLst/>
              <a:rect r="r" b="b" t="t" l="l"/>
              <a:pathLst>
                <a:path h="914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923544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E7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 search interface and usability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95260">
            <a:off x="-2133133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5260">
            <a:off x="3997919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5260">
            <a:off x="10074107" y="5138738"/>
            <a:ext cx="10301297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2700">
            <a:off x="-7144" y="2121217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700">
            <a:off x="-7144" y="8087678"/>
            <a:ext cx="18301840" cy="0"/>
          </a:xfrm>
          <a:prstGeom prst="line">
            <a:avLst/>
          </a:prstGeom>
          <a:ln cap="rnd" w="9525">
            <a:solidFill>
              <a:srgbClr val="141C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674891" y="2263140"/>
            <a:ext cx="4937760" cy="4937760"/>
            <a:chOff x="0" y="0"/>
            <a:chExt cx="6583680" cy="6583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4FD9FF">
                <a:alpha val="39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60691" y="2948940"/>
            <a:ext cx="3566160" cy="3566160"/>
            <a:chOff x="0" y="0"/>
            <a:chExt cx="4754880" cy="4754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4FD9FF">
                <a:alpha val="117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77911" y="3566160"/>
            <a:ext cx="2331720" cy="2331720"/>
            <a:chOff x="0" y="0"/>
            <a:chExt cx="3108960" cy="3108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1554480"/>
                  </a:moveTo>
                  <a:cubicBezTo>
                    <a:pt x="0" y="695960"/>
                    <a:pt x="695960" y="0"/>
                    <a:pt x="1554480" y="0"/>
                  </a:cubicBezTo>
                  <a:cubicBezTo>
                    <a:pt x="2413000" y="0"/>
                    <a:pt x="3108960" y="695960"/>
                    <a:pt x="3108960" y="1554480"/>
                  </a:cubicBezTo>
                  <a:cubicBezTo>
                    <a:pt x="3108960" y="2413000"/>
                    <a:pt x="2413000" y="3108960"/>
                    <a:pt x="1554480" y="3108960"/>
                  </a:cubicBezTo>
                  <a:cubicBezTo>
                    <a:pt x="695960" y="3108960"/>
                    <a:pt x="0" y="2413000"/>
                    <a:pt x="0" y="1554480"/>
                  </a:cubicBezTo>
                  <a:close/>
                </a:path>
              </a:pathLst>
            </a:custGeom>
            <a:solidFill>
              <a:srgbClr val="4FD9FF">
                <a:alpha val="2745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79566" y="3007995"/>
            <a:ext cx="6328410" cy="814578"/>
            <a:chOff x="0" y="0"/>
            <a:chExt cx="8437880" cy="10861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37880" cy="1086104"/>
            </a:xfrm>
            <a:custGeom>
              <a:avLst/>
              <a:gdLst/>
              <a:ahLst/>
              <a:cxnLst/>
              <a:rect r="r" b="b" t="t" l="l"/>
              <a:pathLst>
                <a:path h="1086104" w="8437880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lnTo>
                    <a:pt x="7894828" y="0"/>
                  </a:lnTo>
                  <a:cubicBezTo>
                    <a:pt x="8194802" y="0"/>
                    <a:pt x="8437880" y="243078"/>
                    <a:pt x="8437880" y="543052"/>
                  </a:cubicBezTo>
                  <a:cubicBezTo>
                    <a:pt x="8437880" y="843026"/>
                    <a:pt x="8194802" y="1086104"/>
                    <a:pt x="7894828" y="1086104"/>
                  </a:cubicBezTo>
                  <a:lnTo>
                    <a:pt x="543052" y="1086104"/>
                  </a:ln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0F1729"/>
            </a:solidFill>
            <a:ln w="19050" cap="sq">
              <a:solidFill>
                <a:srgbClr val="4FD9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90843" y="3209544"/>
            <a:ext cx="411480" cy="411480"/>
            <a:chOff x="0" y="0"/>
            <a:chExt cx="548640" cy="548640"/>
          </a:xfrm>
        </p:grpSpPr>
        <p:sp>
          <p:nvSpPr>
            <p:cNvPr name="Freeform 17" id="17" descr="/home/claude/proj/icons/search_cyan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4114800"/>
            <a:ext cx="18287543" cy="1508760"/>
            <a:chOff x="0" y="0"/>
            <a:chExt cx="2438339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3391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176" r="0" b="-1861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438339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5623560"/>
            <a:ext cx="18287543" cy="2202396"/>
            <a:chOff x="0" y="0"/>
            <a:chExt cx="24383390" cy="29365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3391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667" r="0" b="-789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4383390" cy="2955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 rot="10980">
            <a:off x="6162656" y="8704898"/>
            <a:ext cx="5962221" cy="0"/>
          </a:xfrm>
          <a:prstGeom prst="line">
            <a:avLst/>
          </a:prstGeom>
          <a:ln cap="rnd" w="9525">
            <a:solidFill>
              <a:srgbClr val="2631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0" y="8983980"/>
            <a:ext cx="18287543" cy="480060"/>
            <a:chOff x="0" y="0"/>
            <a:chExt cx="2438339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3391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2268" r="0" b="-69226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438339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spc="74">
                  <a:solidFill>
                    <a:srgbClr val="8B96A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09  |  SECTION 12  ·  K. Pavan Kumar  &amp;  P. Harsha Vardhan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54380" y="9710928"/>
            <a:ext cx="8229600" cy="411480"/>
            <a:chOff x="0" y="0"/>
            <a:chExt cx="109728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299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SEARCH ENGINE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092983" y="9710928"/>
            <a:ext cx="1508760" cy="411480"/>
            <a:chOff x="0" y="0"/>
            <a:chExt cx="201168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011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E6A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13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DAHS5U9z0HE</dc:identifier>
  <dcterms:modified xsi:type="dcterms:W3CDTF">2011-08-01T06:04:30Z</dcterms:modified>
  <cp:revision>1</cp:revision>
  <dc:title>Mini_Search_Engine_DSA3_Presentation (1).pptx</dc:title>
</cp:coreProperties>
</file>